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2918400" cy="21945600"/>
  <p:notesSz cx="6858000" cy="9144000"/>
  <p:embeddedFontLst>
    <p:embeddedFont>
      <p:font typeface="Arial Bold" charset="1" panose="020B0704020202020204"/>
      <p:regular r:id="rId7"/>
    </p:embeddedFont>
    <p:embeddedFont>
      <p:font typeface="Arial" charset="1" panose="020B0604020202020204"/>
      <p:regular r:id="rId8"/>
    </p:embeddedFont>
    <p:embeddedFont>
      <p:font typeface="Poppins" charset="1" panose="00000500000000000000"/>
      <p:regular r:id="rId9"/>
    </p:embeddedFont>
    <p:embeddedFont>
      <p:font typeface="League Spartan" charset="1" panose="0000080000000000000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42299"/>
            <a:ext cx="32918400" cy="4032344"/>
          </a:xfrm>
          <a:custGeom>
            <a:avLst/>
            <a:gdLst/>
            <a:ahLst/>
            <a:cxnLst/>
            <a:rect r="r" b="b" t="t" l="l"/>
            <a:pathLst>
              <a:path h="4032344" w="32918400">
                <a:moveTo>
                  <a:pt x="32918400" y="0"/>
                </a:moveTo>
                <a:lnTo>
                  <a:pt x="0" y="0"/>
                </a:lnTo>
                <a:lnTo>
                  <a:pt x="0" y="4032344"/>
                </a:lnTo>
                <a:lnTo>
                  <a:pt x="32918400" y="4032344"/>
                </a:lnTo>
                <a:lnTo>
                  <a:pt x="32918400" y="0"/>
                </a:lnTo>
                <a:close/>
              </a:path>
            </a:pathLst>
          </a:custGeom>
          <a:blipFill>
            <a:blip r:embed="rId2"/>
            <a:stretch>
              <a:fillRect l="-10218" t="-631302" r="0" b="-165099"/>
            </a:stretch>
          </a:blipFill>
        </p:spPr>
      </p:sp>
      <p:grpSp>
        <p:nvGrpSpPr>
          <p:cNvPr name="Group 3" id="3"/>
          <p:cNvGrpSpPr/>
          <p:nvPr/>
        </p:nvGrpSpPr>
        <p:grpSpPr>
          <a:xfrm rot="0">
            <a:off x="1636779" y="3103932"/>
            <a:ext cx="29864532" cy="1570736"/>
            <a:chOff x="0" y="0"/>
            <a:chExt cx="3687013" cy="193929"/>
          </a:xfrm>
        </p:grpSpPr>
        <p:sp>
          <p:nvSpPr>
            <p:cNvPr name="Freeform 4" id="4"/>
            <p:cNvSpPr/>
            <p:nvPr/>
          </p:nvSpPr>
          <p:spPr>
            <a:xfrm flipH="false" flipV="false" rot="0">
              <a:off x="0" y="0"/>
              <a:ext cx="3687013" cy="193929"/>
            </a:xfrm>
            <a:custGeom>
              <a:avLst/>
              <a:gdLst/>
              <a:ahLst/>
              <a:cxnLst/>
              <a:rect r="r" b="b" t="t" l="l"/>
              <a:pathLst>
                <a:path h="193929" w="3687013">
                  <a:moveTo>
                    <a:pt x="3687013" y="4321"/>
                  </a:moveTo>
                  <a:lnTo>
                    <a:pt x="3687013" y="189608"/>
                  </a:lnTo>
                  <a:cubicBezTo>
                    <a:pt x="3687013" y="190754"/>
                    <a:pt x="3686558" y="191853"/>
                    <a:pt x="3685748" y="192664"/>
                  </a:cubicBezTo>
                  <a:cubicBezTo>
                    <a:pt x="3684937" y="193474"/>
                    <a:pt x="3683839" y="193929"/>
                    <a:pt x="3682693" y="193929"/>
                  </a:cubicBezTo>
                  <a:lnTo>
                    <a:pt x="4321" y="193929"/>
                  </a:lnTo>
                  <a:cubicBezTo>
                    <a:pt x="1934" y="193929"/>
                    <a:pt x="0" y="191995"/>
                    <a:pt x="0" y="189608"/>
                  </a:cubicBezTo>
                  <a:lnTo>
                    <a:pt x="0" y="4321"/>
                  </a:lnTo>
                  <a:cubicBezTo>
                    <a:pt x="0" y="1934"/>
                    <a:pt x="1934" y="0"/>
                    <a:pt x="4321" y="0"/>
                  </a:cubicBezTo>
                  <a:lnTo>
                    <a:pt x="3682693" y="0"/>
                  </a:lnTo>
                  <a:cubicBezTo>
                    <a:pt x="3685079" y="0"/>
                    <a:pt x="3687013" y="1934"/>
                    <a:pt x="3687013" y="4321"/>
                  </a:cubicBezTo>
                  <a:close/>
                </a:path>
              </a:pathLst>
            </a:custGeom>
            <a:solidFill>
              <a:srgbClr val="EDEDED"/>
            </a:solidFill>
          </p:spPr>
        </p:sp>
        <p:sp>
          <p:nvSpPr>
            <p:cNvPr name="TextBox 5" id="5"/>
            <p:cNvSpPr txBox="true"/>
            <p:nvPr/>
          </p:nvSpPr>
          <p:spPr>
            <a:xfrm>
              <a:off x="0" y="-85725"/>
              <a:ext cx="3687013" cy="279654"/>
            </a:xfrm>
            <a:prstGeom prst="rect">
              <a:avLst/>
            </a:prstGeom>
          </p:spPr>
          <p:txBody>
            <a:bodyPr anchor="ctr" rtlCol="false" tIns="33867" lIns="33867" bIns="33867" rIns="33867"/>
            <a:lstStyle/>
            <a:p>
              <a:pPr algn="just">
                <a:lnSpc>
                  <a:spcPts val="4480"/>
                </a:lnSpc>
              </a:pPr>
            </a:p>
          </p:txBody>
        </p:sp>
      </p:grpSp>
      <p:sp>
        <p:nvSpPr>
          <p:cNvPr name="Freeform 6" id="6"/>
          <p:cNvSpPr/>
          <p:nvPr/>
        </p:nvSpPr>
        <p:spPr>
          <a:xfrm flipH="false" flipV="false" rot="0">
            <a:off x="531490" y="449586"/>
            <a:ext cx="1563483" cy="1563483"/>
          </a:xfrm>
          <a:custGeom>
            <a:avLst/>
            <a:gdLst/>
            <a:ahLst/>
            <a:cxnLst/>
            <a:rect r="r" b="b" t="t" l="l"/>
            <a:pathLst>
              <a:path h="1563483" w="1563483">
                <a:moveTo>
                  <a:pt x="0" y="0"/>
                </a:moveTo>
                <a:lnTo>
                  <a:pt x="1563483" y="0"/>
                </a:lnTo>
                <a:lnTo>
                  <a:pt x="1563483" y="1563483"/>
                </a:lnTo>
                <a:lnTo>
                  <a:pt x="0" y="1563483"/>
                </a:lnTo>
                <a:lnTo>
                  <a:pt x="0" y="0"/>
                </a:lnTo>
                <a:close/>
              </a:path>
            </a:pathLst>
          </a:custGeom>
          <a:blipFill>
            <a:blip r:embed="rId3"/>
            <a:stretch>
              <a:fillRect l="0" t="0" r="0" b="0"/>
            </a:stretch>
          </a:blipFill>
        </p:spPr>
      </p:sp>
      <p:sp>
        <p:nvSpPr>
          <p:cNvPr name="Freeform 7" id="7"/>
          <p:cNvSpPr/>
          <p:nvPr/>
        </p:nvSpPr>
        <p:spPr>
          <a:xfrm flipH="true" flipV="false" rot="0">
            <a:off x="0" y="19903440"/>
            <a:ext cx="32918400" cy="2042160"/>
          </a:xfrm>
          <a:custGeom>
            <a:avLst/>
            <a:gdLst/>
            <a:ahLst/>
            <a:cxnLst/>
            <a:rect r="r" b="b" t="t" l="l"/>
            <a:pathLst>
              <a:path h="2042160" w="32918400">
                <a:moveTo>
                  <a:pt x="32918400" y="0"/>
                </a:moveTo>
                <a:lnTo>
                  <a:pt x="0" y="0"/>
                </a:lnTo>
                <a:lnTo>
                  <a:pt x="0" y="2042160"/>
                </a:lnTo>
                <a:lnTo>
                  <a:pt x="32918400" y="2042160"/>
                </a:lnTo>
                <a:lnTo>
                  <a:pt x="32918400" y="0"/>
                </a:lnTo>
                <a:close/>
              </a:path>
            </a:pathLst>
          </a:custGeom>
          <a:blipFill>
            <a:blip r:embed="rId2"/>
            <a:stretch>
              <a:fillRect l="0" t="-274819" r="0" b="-1231076"/>
            </a:stretch>
          </a:blipFill>
        </p:spPr>
      </p:sp>
      <p:grpSp>
        <p:nvGrpSpPr>
          <p:cNvPr name="Group 8" id="8"/>
          <p:cNvGrpSpPr/>
          <p:nvPr/>
        </p:nvGrpSpPr>
        <p:grpSpPr>
          <a:xfrm rot="0">
            <a:off x="1962565" y="4734961"/>
            <a:ext cx="29626237" cy="15171809"/>
            <a:chOff x="0" y="0"/>
            <a:chExt cx="39501649" cy="20229079"/>
          </a:xfrm>
        </p:grpSpPr>
        <p:sp>
          <p:nvSpPr>
            <p:cNvPr name="AutoShape 9" id="9"/>
            <p:cNvSpPr/>
            <p:nvPr/>
          </p:nvSpPr>
          <p:spPr>
            <a:xfrm>
              <a:off x="0" y="4584178"/>
              <a:ext cx="12692254" cy="0"/>
            </a:xfrm>
            <a:prstGeom prst="line">
              <a:avLst/>
            </a:prstGeom>
            <a:ln cap="flat" w="67561">
              <a:gradFill>
                <a:gsLst>
                  <a:gs pos="0">
                    <a:srgbClr val="8C52FF">
                      <a:alpha val="100000"/>
                    </a:srgbClr>
                  </a:gs>
                  <a:gs pos="100000">
                    <a:srgbClr val="5CE1E6">
                      <a:alpha val="100000"/>
                    </a:srgbClr>
                  </a:gs>
                </a:gsLst>
                <a:lin ang="0"/>
              </a:gradFill>
              <a:prstDash val="solid"/>
              <a:headEnd type="none" len="sm" w="sm"/>
              <a:tailEnd type="none" len="sm" w="sm"/>
            </a:ln>
          </p:spPr>
        </p:sp>
        <p:sp>
          <p:nvSpPr>
            <p:cNvPr name="AutoShape 10" id="10"/>
            <p:cNvSpPr/>
            <p:nvPr/>
          </p:nvSpPr>
          <p:spPr>
            <a:xfrm flipV="true">
              <a:off x="0" y="9069335"/>
              <a:ext cx="12692254" cy="0"/>
            </a:xfrm>
            <a:prstGeom prst="line">
              <a:avLst/>
            </a:prstGeom>
            <a:ln cap="flat" w="67561">
              <a:gradFill>
                <a:gsLst>
                  <a:gs pos="0">
                    <a:srgbClr val="8C52FF">
                      <a:alpha val="100000"/>
                    </a:srgbClr>
                  </a:gs>
                  <a:gs pos="100000">
                    <a:srgbClr val="5CE1E6">
                      <a:alpha val="100000"/>
                    </a:srgbClr>
                  </a:gs>
                </a:gsLst>
                <a:lin ang="0"/>
              </a:gradFill>
              <a:prstDash val="solid"/>
              <a:headEnd type="none" len="sm" w="sm"/>
              <a:tailEnd type="none" len="sm" w="sm"/>
            </a:ln>
          </p:spPr>
        </p:sp>
        <p:sp>
          <p:nvSpPr>
            <p:cNvPr name="AutoShape 11" id="11"/>
            <p:cNvSpPr/>
            <p:nvPr/>
          </p:nvSpPr>
          <p:spPr>
            <a:xfrm>
              <a:off x="27110585" y="9951028"/>
              <a:ext cx="12391064" cy="0"/>
            </a:xfrm>
            <a:prstGeom prst="line">
              <a:avLst/>
            </a:prstGeom>
            <a:ln cap="flat" w="67561">
              <a:gradFill>
                <a:gsLst>
                  <a:gs pos="0">
                    <a:srgbClr val="8C52FF">
                      <a:alpha val="100000"/>
                    </a:srgbClr>
                  </a:gs>
                  <a:gs pos="100000">
                    <a:srgbClr val="5CE1E6">
                      <a:alpha val="100000"/>
                    </a:srgbClr>
                  </a:gs>
                </a:gsLst>
                <a:lin ang="0"/>
              </a:gradFill>
              <a:prstDash val="solid"/>
              <a:headEnd type="none" len="sm" w="sm"/>
              <a:tailEnd type="none" len="sm" w="sm"/>
            </a:ln>
          </p:spPr>
        </p:sp>
        <p:sp>
          <p:nvSpPr>
            <p:cNvPr name="AutoShape 12" id="12"/>
            <p:cNvSpPr/>
            <p:nvPr/>
          </p:nvSpPr>
          <p:spPr>
            <a:xfrm flipV="true">
              <a:off x="12692254" y="0"/>
              <a:ext cx="0" cy="20229079"/>
            </a:xfrm>
            <a:prstGeom prst="line">
              <a:avLst/>
            </a:prstGeom>
            <a:ln cap="flat" w="67561">
              <a:gradFill>
                <a:gsLst>
                  <a:gs pos="0">
                    <a:srgbClr val="8C52FF">
                      <a:alpha val="100000"/>
                    </a:srgbClr>
                  </a:gs>
                  <a:gs pos="100000">
                    <a:srgbClr val="5CE1E6">
                      <a:alpha val="100000"/>
                    </a:srgbClr>
                  </a:gs>
                </a:gsLst>
                <a:lin ang="0"/>
              </a:gradFill>
              <a:prstDash val="solid"/>
              <a:headEnd type="none" len="sm" w="sm"/>
              <a:tailEnd type="none" len="sm" w="sm"/>
            </a:ln>
          </p:spPr>
        </p:sp>
        <p:sp>
          <p:nvSpPr>
            <p:cNvPr name="AutoShape 13" id="13"/>
            <p:cNvSpPr/>
            <p:nvPr/>
          </p:nvSpPr>
          <p:spPr>
            <a:xfrm flipV="true">
              <a:off x="27110585" y="0"/>
              <a:ext cx="0" cy="20229079"/>
            </a:xfrm>
            <a:prstGeom prst="line">
              <a:avLst/>
            </a:prstGeom>
            <a:ln cap="flat" w="67561">
              <a:gradFill>
                <a:gsLst>
                  <a:gs pos="0">
                    <a:srgbClr val="8C52FF">
                      <a:alpha val="100000"/>
                    </a:srgbClr>
                  </a:gs>
                  <a:gs pos="100000">
                    <a:srgbClr val="5CE1E6">
                      <a:alpha val="100000"/>
                    </a:srgbClr>
                  </a:gs>
                </a:gsLst>
                <a:lin ang="0"/>
              </a:gradFill>
              <a:prstDash val="solid"/>
              <a:headEnd type="none" len="sm" w="sm"/>
              <a:tailEnd type="none" len="sm" w="sm"/>
            </a:ln>
          </p:spPr>
        </p:sp>
        <p:sp>
          <p:nvSpPr>
            <p:cNvPr name="AutoShape 14" id="14"/>
            <p:cNvSpPr/>
            <p:nvPr/>
          </p:nvSpPr>
          <p:spPr>
            <a:xfrm flipH="true">
              <a:off x="944629" y="10873777"/>
              <a:ext cx="0" cy="9109607"/>
            </a:xfrm>
            <a:prstGeom prst="line">
              <a:avLst/>
            </a:prstGeom>
            <a:ln cap="flat" w="40537">
              <a:gradFill>
                <a:gsLst>
                  <a:gs pos="0">
                    <a:srgbClr val="8C52FF">
                      <a:alpha val="100000"/>
                    </a:srgbClr>
                  </a:gs>
                  <a:gs pos="100000">
                    <a:srgbClr val="5CE1E6">
                      <a:alpha val="100000"/>
                    </a:srgbClr>
                  </a:gs>
                </a:gsLst>
                <a:lin ang="0"/>
              </a:gradFill>
              <a:prstDash val="solid"/>
              <a:headEnd type="oval" len="lg" w="lg"/>
              <a:tailEnd type="oval" len="lg" w="lg"/>
            </a:ln>
          </p:spPr>
        </p:sp>
        <p:sp>
          <p:nvSpPr>
            <p:cNvPr name="Freeform 15" id="15"/>
            <p:cNvSpPr/>
            <p:nvPr/>
          </p:nvSpPr>
          <p:spPr>
            <a:xfrm flipH="false" flipV="false" rot="0">
              <a:off x="726679" y="11372472"/>
              <a:ext cx="435899" cy="405387"/>
            </a:xfrm>
            <a:custGeom>
              <a:avLst/>
              <a:gdLst/>
              <a:ahLst/>
              <a:cxnLst/>
              <a:rect r="r" b="b" t="t" l="l"/>
              <a:pathLst>
                <a:path h="405387" w="435899">
                  <a:moveTo>
                    <a:pt x="0" y="0"/>
                  </a:moveTo>
                  <a:lnTo>
                    <a:pt x="435900" y="0"/>
                  </a:lnTo>
                  <a:lnTo>
                    <a:pt x="435900" y="405386"/>
                  </a:lnTo>
                  <a:lnTo>
                    <a:pt x="0" y="4053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26679" y="12941156"/>
              <a:ext cx="497327" cy="462514"/>
            </a:xfrm>
            <a:custGeom>
              <a:avLst/>
              <a:gdLst/>
              <a:ahLst/>
              <a:cxnLst/>
              <a:rect r="r" b="b" t="t" l="l"/>
              <a:pathLst>
                <a:path h="462514" w="497327">
                  <a:moveTo>
                    <a:pt x="0" y="0"/>
                  </a:moveTo>
                  <a:lnTo>
                    <a:pt x="497327" y="0"/>
                  </a:lnTo>
                  <a:lnTo>
                    <a:pt x="497327" y="462514"/>
                  </a:lnTo>
                  <a:lnTo>
                    <a:pt x="0" y="462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726679" y="14799423"/>
              <a:ext cx="435899" cy="405387"/>
            </a:xfrm>
            <a:custGeom>
              <a:avLst/>
              <a:gdLst/>
              <a:ahLst/>
              <a:cxnLst/>
              <a:rect r="r" b="b" t="t" l="l"/>
              <a:pathLst>
                <a:path h="405387" w="435899">
                  <a:moveTo>
                    <a:pt x="0" y="0"/>
                  </a:moveTo>
                  <a:lnTo>
                    <a:pt x="435900" y="0"/>
                  </a:lnTo>
                  <a:lnTo>
                    <a:pt x="435900" y="405386"/>
                  </a:lnTo>
                  <a:lnTo>
                    <a:pt x="0" y="4053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726679" y="16423690"/>
              <a:ext cx="435899" cy="405387"/>
            </a:xfrm>
            <a:custGeom>
              <a:avLst/>
              <a:gdLst/>
              <a:ahLst/>
              <a:cxnLst/>
              <a:rect r="r" b="b" t="t" l="l"/>
              <a:pathLst>
                <a:path h="405387" w="435899">
                  <a:moveTo>
                    <a:pt x="0" y="0"/>
                  </a:moveTo>
                  <a:lnTo>
                    <a:pt x="435900" y="0"/>
                  </a:lnTo>
                  <a:lnTo>
                    <a:pt x="435900" y="405387"/>
                  </a:lnTo>
                  <a:lnTo>
                    <a:pt x="0" y="4053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726679" y="18442572"/>
              <a:ext cx="435899" cy="405387"/>
            </a:xfrm>
            <a:custGeom>
              <a:avLst/>
              <a:gdLst/>
              <a:ahLst/>
              <a:cxnLst/>
              <a:rect r="r" b="b" t="t" l="l"/>
              <a:pathLst>
                <a:path h="405387" w="435899">
                  <a:moveTo>
                    <a:pt x="0" y="0"/>
                  </a:moveTo>
                  <a:lnTo>
                    <a:pt x="435900" y="0"/>
                  </a:lnTo>
                  <a:lnTo>
                    <a:pt x="435900" y="405386"/>
                  </a:lnTo>
                  <a:lnTo>
                    <a:pt x="0" y="4053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27401098" y="11080725"/>
              <a:ext cx="11752196" cy="8620337"/>
            </a:xfrm>
            <a:prstGeom prst="rect">
              <a:avLst/>
            </a:prstGeom>
          </p:spPr>
          <p:txBody>
            <a:bodyPr anchor="t" rtlCol="false" tIns="0" lIns="0" bIns="0" rIns="0">
              <a:spAutoFit/>
            </a:bodyPr>
            <a:lstStyle/>
            <a:p>
              <a:pPr algn="just">
                <a:lnSpc>
                  <a:spcPts val="3010"/>
                </a:lnSpc>
              </a:pPr>
              <a:r>
                <a:rPr lang="en-US" sz="2150" b="true">
                  <a:solidFill>
                    <a:srgbClr val="000000"/>
                  </a:solidFill>
                  <a:latin typeface="Arial Bold"/>
                  <a:ea typeface="Arial Bold"/>
                  <a:cs typeface="Arial Bold"/>
                  <a:sym typeface="Arial Bold"/>
                </a:rPr>
                <a:t>What this work contributes:</a:t>
              </a:r>
            </a:p>
            <a:p>
              <a:pPr algn="just" marL="464186" indent="-232093" lvl="1">
                <a:lnSpc>
                  <a:spcPts val="3010"/>
                </a:lnSpc>
                <a:buFont typeface="Arial"/>
                <a:buChar char="•"/>
              </a:pPr>
              <a:r>
                <a:rPr lang="en-US" sz="2150">
                  <a:solidFill>
                    <a:srgbClr val="000000"/>
                  </a:solidFill>
                  <a:latin typeface="Arial"/>
                  <a:ea typeface="Arial"/>
                  <a:cs typeface="Arial"/>
                  <a:sym typeface="Arial"/>
                </a:rPr>
                <a:t>A LangGraph-based fan-out architecture where the LLM decides which specialists to dispatch in parallel, with no hardcoded pipeline.</a:t>
              </a:r>
            </a:p>
            <a:p>
              <a:pPr algn="just" marL="464186" indent="-232093" lvl="1">
                <a:lnSpc>
                  <a:spcPts val="3010"/>
                </a:lnSpc>
                <a:buFont typeface="Arial"/>
                <a:buChar char="•"/>
              </a:pPr>
              <a:r>
                <a:rPr lang="en-US" sz="2150">
                  <a:solidFill>
                    <a:srgbClr val="000000"/>
                  </a:solidFill>
                  <a:latin typeface="Arial"/>
                  <a:ea typeface="Arial"/>
                  <a:cs typeface="Arial"/>
                  <a:sym typeface="Arial"/>
                </a:rPr>
                <a:t>An iterative reasoning loop: if the first pass is inconclusive, the synthesis agent requests another cycle with targeted follow-up commands.</a:t>
              </a:r>
            </a:p>
            <a:p>
              <a:pPr algn="just" marL="464186" indent="-232093" lvl="1">
                <a:lnSpc>
                  <a:spcPts val="3010"/>
                </a:lnSpc>
                <a:buFont typeface="Arial"/>
                <a:buChar char="•"/>
              </a:pPr>
              <a:r>
                <a:rPr lang="en-US" sz="2150">
                  <a:solidFill>
                    <a:srgbClr val="000000"/>
                  </a:solidFill>
                  <a:latin typeface="Arial"/>
                  <a:ea typeface="Arial"/>
                  <a:cs typeface="Arial"/>
                  <a:sym typeface="Arial"/>
                </a:rPr>
                <a:t>A deny-first security layer that blocks writes, redirects, and network tools during live container introspection.</a:t>
              </a:r>
            </a:p>
            <a:p>
              <a:pPr algn="just" marL="464186" indent="-232093" lvl="1">
                <a:lnSpc>
                  <a:spcPts val="3010"/>
                </a:lnSpc>
                <a:buFont typeface="Arial"/>
                <a:buChar char="•"/>
              </a:pPr>
              <a:r>
                <a:rPr lang="en-US" sz="2150">
                  <a:solidFill>
                    <a:srgbClr val="000000"/>
                  </a:solidFill>
                  <a:latin typeface="Arial"/>
                  <a:ea typeface="Arial"/>
                  <a:cs typeface="Arial"/>
                  <a:sym typeface="Arial"/>
                </a:rPr>
                <a:t>YAML-driven deployment profiles so teams can onboard new services without writing code.</a:t>
              </a:r>
            </a:p>
            <a:p>
              <a:pPr algn="just">
                <a:lnSpc>
                  <a:spcPts val="3010"/>
                </a:lnSpc>
              </a:pPr>
              <a:r>
                <a:rPr lang="en-US" sz="2150" b="true">
                  <a:solidFill>
                    <a:srgbClr val="000000"/>
                  </a:solidFill>
                  <a:latin typeface="Arial Bold"/>
                  <a:ea typeface="Arial Bold"/>
                  <a:cs typeface="Arial Bold"/>
                  <a:sym typeface="Arial Bold"/>
                </a:rPr>
                <a:t>Where it goes next:</a:t>
              </a:r>
            </a:p>
            <a:p>
              <a:pPr algn="just" marL="464186" indent="-232093" lvl="1">
                <a:lnSpc>
                  <a:spcPts val="3010"/>
                </a:lnSpc>
                <a:buFont typeface="Arial"/>
                <a:buChar char="•"/>
              </a:pPr>
              <a:r>
                <a:rPr lang="en-US" sz="2150">
                  <a:solidFill>
                    <a:srgbClr val="000000"/>
                  </a:solidFill>
                  <a:latin typeface="Arial"/>
                  <a:ea typeface="Arial"/>
                  <a:cs typeface="Arial"/>
                  <a:sym typeface="Arial"/>
                </a:rPr>
                <a:t>Kubernetes-native execution to move beyond SSH and Docker exec into production clusters.</a:t>
              </a:r>
            </a:p>
            <a:p>
              <a:pPr algn="just" marL="464186" indent="-232093" lvl="1">
                <a:lnSpc>
                  <a:spcPts val="3010"/>
                </a:lnSpc>
                <a:buFont typeface="Arial"/>
                <a:buChar char="•"/>
              </a:pPr>
              <a:r>
                <a:rPr lang="en-US" sz="2150">
                  <a:solidFill>
                    <a:srgbClr val="000000"/>
                  </a:solidFill>
                  <a:latin typeface="Arial"/>
                  <a:ea typeface="Arial"/>
                  <a:cs typeface="Arial"/>
                  <a:sym typeface="Arial"/>
                </a:rPr>
                <a:t>Human-in-the-loop command approval for environments where full autonomy is not yet appropriate.</a:t>
              </a:r>
            </a:p>
            <a:p>
              <a:pPr algn="just" marL="464186" indent="-232093" lvl="1">
                <a:lnSpc>
                  <a:spcPts val="3010"/>
                </a:lnSpc>
                <a:buFont typeface="Arial"/>
                <a:buChar char="•"/>
              </a:pPr>
              <a:r>
                <a:rPr lang="en-US" sz="2150">
                  <a:solidFill>
                    <a:srgbClr val="000000"/>
                  </a:solidFill>
                  <a:latin typeface="Arial"/>
                  <a:ea typeface="Arial"/>
                  <a:cs typeface="Arial"/>
                  <a:sym typeface="Arial"/>
                </a:rPr>
                <a:t>Evaluation on real-world incidents without pre-defined ground truth.</a:t>
              </a:r>
            </a:p>
            <a:p>
              <a:pPr algn="just">
                <a:lnSpc>
                  <a:spcPts val="3010"/>
                </a:lnSpc>
              </a:pPr>
            </a:p>
          </p:txBody>
        </p:sp>
        <p:sp>
          <p:nvSpPr>
            <p:cNvPr name="TextBox 21" id="21"/>
            <p:cNvSpPr txBox="true"/>
            <p:nvPr/>
          </p:nvSpPr>
          <p:spPr>
            <a:xfrm rot="0">
              <a:off x="27110585" y="9994106"/>
              <a:ext cx="12391064" cy="781671"/>
            </a:xfrm>
            <a:prstGeom prst="rect">
              <a:avLst/>
            </a:prstGeom>
          </p:spPr>
          <p:txBody>
            <a:bodyPr anchor="t" rtlCol="false" tIns="0" lIns="0" bIns="0" rIns="0">
              <a:spAutoFit/>
            </a:bodyPr>
            <a:lstStyle/>
            <a:p>
              <a:pPr algn="ctr" marL="0" indent="0" lvl="0">
                <a:lnSpc>
                  <a:spcPts val="4805"/>
                </a:lnSpc>
                <a:spcBef>
                  <a:spcPct val="0"/>
                </a:spcBef>
              </a:pPr>
              <a:r>
                <a:rPr lang="en-US" b="true" sz="3432" strike="noStrike" u="none">
                  <a:solidFill>
                    <a:srgbClr val="4F75A4"/>
                  </a:solidFill>
                  <a:latin typeface="Arial Bold"/>
                  <a:ea typeface="Arial Bold"/>
                  <a:cs typeface="Arial Bold"/>
                  <a:sym typeface="Arial Bold"/>
                </a:rPr>
                <a:t>Conclusion</a:t>
              </a:r>
            </a:p>
          </p:txBody>
        </p:sp>
        <p:sp>
          <p:nvSpPr>
            <p:cNvPr name="TextBox 22" id="22"/>
            <p:cNvSpPr txBox="true"/>
            <p:nvPr/>
          </p:nvSpPr>
          <p:spPr>
            <a:xfrm rot="0">
              <a:off x="27110585" y="-20960"/>
              <a:ext cx="12391064" cy="770943"/>
            </a:xfrm>
            <a:prstGeom prst="rect">
              <a:avLst/>
            </a:prstGeom>
          </p:spPr>
          <p:txBody>
            <a:bodyPr anchor="t" rtlCol="false" tIns="0" lIns="0" bIns="0" rIns="0">
              <a:spAutoFit/>
            </a:bodyPr>
            <a:lstStyle/>
            <a:p>
              <a:pPr algn="ctr" marL="0" indent="0" lvl="0">
                <a:lnSpc>
                  <a:spcPts val="4805"/>
                </a:lnSpc>
                <a:spcBef>
                  <a:spcPct val="0"/>
                </a:spcBef>
              </a:pPr>
              <a:r>
                <a:rPr lang="en-US" b="true" sz="3432" strike="noStrike" u="none">
                  <a:solidFill>
                    <a:srgbClr val="4F75A4"/>
                  </a:solidFill>
                  <a:latin typeface="Arial Bold"/>
                  <a:ea typeface="Arial Bold"/>
                  <a:cs typeface="Arial Bold"/>
                  <a:sym typeface="Arial Bold"/>
                </a:rPr>
                <a:t>Results &amp; Analysis</a:t>
              </a:r>
            </a:p>
          </p:txBody>
        </p:sp>
        <p:sp>
          <p:nvSpPr>
            <p:cNvPr name="TextBox 23" id="23"/>
            <p:cNvSpPr txBox="true"/>
            <p:nvPr/>
          </p:nvSpPr>
          <p:spPr>
            <a:xfrm rot="0">
              <a:off x="1708324" y="10816627"/>
              <a:ext cx="10461588" cy="1508501"/>
            </a:xfrm>
            <a:prstGeom prst="rect">
              <a:avLst/>
            </a:prstGeom>
          </p:spPr>
          <p:txBody>
            <a:bodyPr anchor="t" rtlCol="false" tIns="0" lIns="0" bIns="0" rIns="0">
              <a:spAutoFit/>
            </a:bodyPr>
            <a:lstStyle/>
            <a:p>
              <a:pPr algn="just">
                <a:lnSpc>
                  <a:spcPts val="3003"/>
                </a:lnSpc>
              </a:pPr>
              <a:r>
                <a:rPr lang="en-US" sz="2145">
                  <a:solidFill>
                    <a:srgbClr val="000000"/>
                  </a:solidFill>
                  <a:latin typeface="Arial"/>
                  <a:ea typeface="Arial"/>
                  <a:cs typeface="Arial"/>
                  <a:sym typeface="Arial"/>
                </a:rPr>
                <a:t>This study employed a </a:t>
              </a:r>
              <a:r>
                <a:rPr lang="en-US" sz="2145" b="true">
                  <a:solidFill>
                    <a:srgbClr val="000000"/>
                  </a:solidFill>
                  <a:latin typeface="Arial Bold"/>
                  <a:ea typeface="Arial Bold"/>
                  <a:cs typeface="Arial Bold"/>
                  <a:sym typeface="Arial Bold"/>
                </a:rPr>
                <a:t>systems design and empirical validation</a:t>
              </a:r>
              <a:r>
                <a:rPr lang="en-US" sz="2145">
                  <a:solidFill>
                    <a:srgbClr val="000000"/>
                  </a:solidFill>
                  <a:latin typeface="Arial"/>
                  <a:ea typeface="Arial"/>
                  <a:cs typeface="Arial"/>
                  <a:sym typeface="Arial"/>
                </a:rPr>
                <a:t> approach to investigate LLM-driven automated incident RCA in microservice environments.</a:t>
              </a:r>
            </a:p>
          </p:txBody>
        </p:sp>
        <p:sp>
          <p:nvSpPr>
            <p:cNvPr name="TextBox 24" id="24"/>
            <p:cNvSpPr txBox="true"/>
            <p:nvPr/>
          </p:nvSpPr>
          <p:spPr>
            <a:xfrm rot="0">
              <a:off x="1629373" y="12389588"/>
              <a:ext cx="10461588" cy="1508501"/>
            </a:xfrm>
            <a:prstGeom prst="rect">
              <a:avLst/>
            </a:prstGeom>
          </p:spPr>
          <p:txBody>
            <a:bodyPr anchor="t" rtlCol="false" tIns="0" lIns="0" bIns="0" rIns="0">
              <a:spAutoFit/>
            </a:bodyPr>
            <a:lstStyle/>
            <a:p>
              <a:pPr algn="just">
                <a:lnSpc>
                  <a:spcPts val="3003"/>
                </a:lnSpc>
              </a:pPr>
              <a:r>
                <a:rPr lang="en-US" sz="2145">
                  <a:solidFill>
                    <a:srgbClr val="000000"/>
                  </a:solidFill>
                  <a:latin typeface="Arial"/>
                  <a:ea typeface="Arial"/>
                  <a:cs typeface="Arial"/>
                  <a:sym typeface="Arial"/>
                </a:rPr>
                <a:t>The framework was implemented using </a:t>
              </a:r>
              <a:r>
                <a:rPr lang="en-US" sz="2145" b="true">
                  <a:solidFill>
                    <a:srgbClr val="000000"/>
                  </a:solidFill>
                  <a:latin typeface="Arial Bold"/>
                  <a:ea typeface="Arial Bold"/>
                  <a:cs typeface="Arial Bold"/>
                  <a:sym typeface="Arial Bold"/>
                </a:rPr>
                <a:t>LangGraph</a:t>
              </a:r>
              <a:r>
                <a:rPr lang="en-US" sz="2145">
                  <a:solidFill>
                    <a:srgbClr val="000000"/>
                  </a:solidFill>
                  <a:latin typeface="Arial"/>
                  <a:ea typeface="Arial"/>
                  <a:cs typeface="Arial"/>
                  <a:sym typeface="Arial"/>
                </a:rPr>
                <a:t>: Parent Agent (LLM orchestrator) → parallel specialist fan-out via Send API → Synthesis Agent → iterative loop or conclusion.</a:t>
              </a:r>
            </a:p>
          </p:txBody>
        </p:sp>
        <p:sp>
          <p:nvSpPr>
            <p:cNvPr name="TextBox 25" id="25"/>
            <p:cNvSpPr txBox="true"/>
            <p:nvPr/>
          </p:nvSpPr>
          <p:spPr>
            <a:xfrm rot="0">
              <a:off x="1679732" y="14016598"/>
              <a:ext cx="10720497" cy="1508501"/>
            </a:xfrm>
            <a:prstGeom prst="rect">
              <a:avLst/>
            </a:prstGeom>
          </p:spPr>
          <p:txBody>
            <a:bodyPr anchor="t" rtlCol="false" tIns="0" lIns="0" bIns="0" rIns="0">
              <a:spAutoFit/>
            </a:bodyPr>
            <a:lstStyle/>
            <a:p>
              <a:pPr algn="just">
                <a:lnSpc>
                  <a:spcPts val="3003"/>
                </a:lnSpc>
              </a:pPr>
              <a:r>
                <a:rPr lang="en-US" sz="2145">
                  <a:solidFill>
                    <a:srgbClr val="000000"/>
                  </a:solidFill>
                  <a:latin typeface="Arial"/>
                  <a:ea typeface="Arial"/>
                  <a:cs typeface="Arial"/>
                  <a:sym typeface="Arial"/>
                </a:rPr>
                <a:t>Four </a:t>
              </a:r>
              <a:r>
                <a:rPr lang="en-US" sz="2145" b="true">
                  <a:solidFill>
                    <a:srgbClr val="000000"/>
                  </a:solidFill>
                  <a:latin typeface="Arial Bold"/>
                  <a:ea typeface="Arial Bold"/>
                  <a:cs typeface="Arial Bold"/>
                  <a:sym typeface="Arial Bold"/>
                </a:rPr>
                <a:t>specialist agent types</a:t>
              </a:r>
              <a:r>
                <a:rPr lang="en-US" sz="2145">
                  <a:solidFill>
                    <a:srgbClr val="000000"/>
                  </a:solidFill>
                  <a:latin typeface="Arial"/>
                  <a:ea typeface="Arial"/>
                  <a:cs typeface="Arial"/>
                  <a:sym typeface="Arial"/>
                </a:rPr>
                <a:t> were developed (Log, Runtime Status, Docker Specs, and Network), each self-registering at runtime with no code changes per deployment.</a:t>
              </a:r>
            </a:p>
          </p:txBody>
        </p:sp>
        <p:sp>
          <p:nvSpPr>
            <p:cNvPr name="TextBox 26" id="26"/>
            <p:cNvSpPr txBox="true"/>
            <p:nvPr/>
          </p:nvSpPr>
          <p:spPr>
            <a:xfrm rot="0">
              <a:off x="1629373" y="15589558"/>
              <a:ext cx="10461588" cy="2016501"/>
            </a:xfrm>
            <a:prstGeom prst="rect">
              <a:avLst/>
            </a:prstGeom>
          </p:spPr>
          <p:txBody>
            <a:bodyPr anchor="t" rtlCol="false" tIns="0" lIns="0" bIns="0" rIns="0">
              <a:spAutoFit/>
            </a:bodyPr>
            <a:lstStyle/>
            <a:p>
              <a:pPr algn="just">
                <a:lnSpc>
                  <a:spcPts val="3003"/>
                </a:lnSpc>
              </a:pPr>
              <a:r>
                <a:rPr lang="en-US" sz="2145" b="true">
                  <a:solidFill>
                    <a:srgbClr val="000000"/>
                  </a:solidFill>
                  <a:latin typeface="Arial Bold"/>
                  <a:ea typeface="Arial Bold"/>
                  <a:cs typeface="Arial Bold"/>
                  <a:sym typeface="Arial Bold"/>
                </a:rPr>
                <a:t>Controlled fault injection</a:t>
              </a:r>
              <a:r>
                <a:rPr lang="en-US" sz="2145">
                  <a:solidFill>
                    <a:srgbClr val="000000"/>
                  </a:solidFill>
                  <a:latin typeface="Arial"/>
                  <a:ea typeface="Arial"/>
                  <a:cs typeface="Arial"/>
                  <a:sym typeface="Arial"/>
                </a:rPr>
                <a:t> experiments (6 designed, 6 completed) were run on a 4-service Mail App deployed on AWS EC2, covering database, web server, mail transport, DNS, and OS-level memory faults.</a:t>
              </a:r>
            </a:p>
          </p:txBody>
        </p:sp>
        <p:sp>
          <p:nvSpPr>
            <p:cNvPr name="TextBox 27" id="27"/>
            <p:cNvSpPr txBox="true"/>
            <p:nvPr/>
          </p:nvSpPr>
          <p:spPr>
            <a:xfrm rot="0">
              <a:off x="1629373" y="17792129"/>
              <a:ext cx="10461588" cy="1508501"/>
            </a:xfrm>
            <a:prstGeom prst="rect">
              <a:avLst/>
            </a:prstGeom>
          </p:spPr>
          <p:txBody>
            <a:bodyPr anchor="t" rtlCol="false" tIns="0" lIns="0" bIns="0" rIns="0">
              <a:spAutoFit/>
            </a:bodyPr>
            <a:lstStyle/>
            <a:p>
              <a:pPr algn="just">
                <a:lnSpc>
                  <a:spcPts val="3003"/>
                </a:lnSpc>
              </a:pPr>
              <a:r>
                <a:rPr lang="en-US" sz="2145" b="true">
                  <a:solidFill>
                    <a:srgbClr val="000000"/>
                  </a:solidFill>
                  <a:latin typeface="Arial Bold"/>
                  <a:ea typeface="Arial Bold"/>
                  <a:cs typeface="Arial Bold"/>
                  <a:sym typeface="Arial Bold"/>
                </a:rPr>
                <a:t>Ground-truth validation</a:t>
              </a:r>
              <a:r>
                <a:rPr lang="en-US" sz="2145">
                  <a:solidFill>
                    <a:srgbClr val="000000"/>
                  </a:solidFill>
                  <a:latin typeface="Arial"/>
                  <a:ea typeface="Arial"/>
                  <a:cs typeface="Arial"/>
                  <a:sym typeface="Arial"/>
                </a:rPr>
                <a:t> compared the agent's identified root cause against each injected configuration change per experiment.</a:t>
              </a:r>
            </a:p>
          </p:txBody>
        </p:sp>
        <p:sp>
          <p:nvSpPr>
            <p:cNvPr name="TextBox 28" id="28"/>
            <p:cNvSpPr txBox="true"/>
            <p:nvPr/>
          </p:nvSpPr>
          <p:spPr>
            <a:xfrm rot="0">
              <a:off x="726679" y="9260611"/>
              <a:ext cx="11317871" cy="782285"/>
            </a:xfrm>
            <a:prstGeom prst="rect">
              <a:avLst/>
            </a:prstGeom>
          </p:spPr>
          <p:txBody>
            <a:bodyPr anchor="t" rtlCol="false" tIns="0" lIns="0" bIns="0" rIns="0">
              <a:spAutoFit/>
            </a:bodyPr>
            <a:lstStyle/>
            <a:p>
              <a:pPr algn="ctr" marL="0" indent="0" lvl="0">
                <a:lnSpc>
                  <a:spcPts val="4805"/>
                </a:lnSpc>
                <a:spcBef>
                  <a:spcPct val="0"/>
                </a:spcBef>
              </a:pPr>
              <a:r>
                <a:rPr lang="en-US" b="true" sz="3432" strike="noStrike" u="none">
                  <a:solidFill>
                    <a:srgbClr val="4F75A4"/>
                  </a:solidFill>
                  <a:latin typeface="Arial Bold"/>
                  <a:ea typeface="Arial Bold"/>
                  <a:cs typeface="Arial Bold"/>
                  <a:sym typeface="Arial Bold"/>
                </a:rPr>
                <a:t>Methodology</a:t>
              </a:r>
            </a:p>
          </p:txBody>
        </p:sp>
        <p:sp>
          <p:nvSpPr>
            <p:cNvPr name="TextBox 29" id="29"/>
            <p:cNvSpPr txBox="true"/>
            <p:nvPr/>
          </p:nvSpPr>
          <p:spPr>
            <a:xfrm rot="0">
              <a:off x="41967" y="5662273"/>
              <a:ext cx="12085978" cy="3032501"/>
            </a:xfrm>
            <a:prstGeom prst="rect">
              <a:avLst/>
            </a:prstGeom>
          </p:spPr>
          <p:txBody>
            <a:bodyPr anchor="t" rtlCol="false" tIns="0" lIns="0" bIns="0" rIns="0">
              <a:spAutoFit/>
            </a:bodyPr>
            <a:lstStyle/>
            <a:p>
              <a:pPr algn="just" marL="463140" indent="-231570" lvl="1">
                <a:lnSpc>
                  <a:spcPts val="3003"/>
                </a:lnSpc>
                <a:buFont typeface="Arial"/>
                <a:buChar char="•"/>
              </a:pPr>
              <a:r>
                <a:rPr lang="en-US" sz="2145">
                  <a:solidFill>
                    <a:srgbClr val="000000"/>
                  </a:solidFill>
                  <a:latin typeface="Arial"/>
                  <a:ea typeface="Arial"/>
                  <a:cs typeface="Arial"/>
                  <a:sym typeface="Arial"/>
                </a:rPr>
                <a:t>Design a multi-agent system that can diagnose microservice incidents on its own - spinning up specialists in parallel, reasoning over multiple cycles, and staying within safe execution boundaries.</a:t>
              </a:r>
            </a:p>
            <a:p>
              <a:pPr algn="just" marL="463140" indent="-231570" lvl="1">
                <a:lnSpc>
                  <a:spcPts val="3003"/>
                </a:lnSpc>
                <a:buFont typeface="Arial"/>
                <a:buChar char="•"/>
              </a:pPr>
              <a:r>
                <a:rPr lang="en-US" sz="2145">
                  <a:solidFill>
                    <a:srgbClr val="000000"/>
                  </a:solidFill>
                  <a:latin typeface="Arial"/>
                  <a:ea typeface="Arial"/>
                  <a:cs typeface="Arial"/>
                  <a:sym typeface="Arial"/>
                </a:rPr>
                <a:t>Put it to the test on real fault-injected deployments and measure whether it finds the right root cause.</a:t>
              </a:r>
            </a:p>
            <a:p>
              <a:pPr algn="just">
                <a:lnSpc>
                  <a:spcPts val="3003"/>
                </a:lnSpc>
              </a:pPr>
            </a:p>
          </p:txBody>
        </p:sp>
        <p:sp>
          <p:nvSpPr>
            <p:cNvPr name="TextBox 30" id="30"/>
            <p:cNvSpPr txBox="true"/>
            <p:nvPr/>
          </p:nvSpPr>
          <p:spPr>
            <a:xfrm rot="0">
              <a:off x="86056" y="4772971"/>
              <a:ext cx="12085978" cy="782197"/>
            </a:xfrm>
            <a:prstGeom prst="rect">
              <a:avLst/>
            </a:prstGeom>
          </p:spPr>
          <p:txBody>
            <a:bodyPr anchor="t" rtlCol="false" tIns="0" lIns="0" bIns="0" rIns="0">
              <a:spAutoFit/>
            </a:bodyPr>
            <a:lstStyle/>
            <a:p>
              <a:pPr algn="ctr" marL="0" indent="0" lvl="0">
                <a:lnSpc>
                  <a:spcPts val="4805"/>
                </a:lnSpc>
                <a:spcBef>
                  <a:spcPct val="0"/>
                </a:spcBef>
              </a:pPr>
              <a:r>
                <a:rPr lang="en-US" b="true" sz="3432" strike="noStrike" u="none">
                  <a:solidFill>
                    <a:srgbClr val="4F75A4"/>
                  </a:solidFill>
                  <a:latin typeface="Arial Bold"/>
                  <a:ea typeface="Arial Bold"/>
                  <a:cs typeface="Arial Bold"/>
                  <a:sym typeface="Arial Bold"/>
                </a:rPr>
                <a:t>Objective</a:t>
              </a:r>
            </a:p>
          </p:txBody>
        </p:sp>
        <p:sp>
          <p:nvSpPr>
            <p:cNvPr name="TextBox 31" id="31"/>
            <p:cNvSpPr txBox="true"/>
            <p:nvPr/>
          </p:nvSpPr>
          <p:spPr>
            <a:xfrm rot="0">
              <a:off x="726679" y="983595"/>
              <a:ext cx="11673550" cy="3032501"/>
            </a:xfrm>
            <a:prstGeom prst="rect">
              <a:avLst/>
            </a:prstGeom>
          </p:spPr>
          <p:txBody>
            <a:bodyPr anchor="t" rtlCol="false" tIns="0" lIns="0" bIns="0" rIns="0">
              <a:spAutoFit/>
            </a:bodyPr>
            <a:lstStyle/>
            <a:p>
              <a:pPr algn="just">
                <a:lnSpc>
                  <a:spcPts val="3003"/>
                </a:lnSpc>
              </a:pPr>
              <a:r>
                <a:rPr lang="en-US" sz="2145">
                  <a:solidFill>
                    <a:srgbClr val="000000"/>
                  </a:solidFill>
                  <a:latin typeface="Arial"/>
                  <a:ea typeface="Arial"/>
                  <a:cs typeface="Arial"/>
                  <a:sym typeface="Arial"/>
                </a:rPr>
                <a:t>Modern distributed systems make incident diagnosis slow and expert-dependent. This study presents a multi-agent RCA framework using LLMs to autonomously investigate microservice faults by correlating container logs, process states, and configurations in parallel across services, reducing manual SRE triage and cutting Mean Time to Resolution.</a:t>
              </a:r>
            </a:p>
          </p:txBody>
        </p:sp>
        <p:sp>
          <p:nvSpPr>
            <p:cNvPr name="TextBox 32" id="32"/>
            <p:cNvSpPr txBox="true"/>
            <p:nvPr/>
          </p:nvSpPr>
          <p:spPr>
            <a:xfrm rot="0">
              <a:off x="0" y="20191"/>
              <a:ext cx="12169912" cy="782285"/>
            </a:xfrm>
            <a:prstGeom prst="rect">
              <a:avLst/>
            </a:prstGeom>
          </p:spPr>
          <p:txBody>
            <a:bodyPr anchor="t" rtlCol="false" tIns="0" lIns="0" bIns="0" rIns="0">
              <a:spAutoFit/>
            </a:bodyPr>
            <a:lstStyle/>
            <a:p>
              <a:pPr algn="ctr" marL="0" indent="0" lvl="0">
                <a:lnSpc>
                  <a:spcPts val="4805"/>
                </a:lnSpc>
                <a:spcBef>
                  <a:spcPct val="0"/>
                </a:spcBef>
              </a:pPr>
              <a:r>
                <a:rPr lang="en-US" b="true" sz="3432" strike="noStrike" u="none">
                  <a:solidFill>
                    <a:srgbClr val="4F75A4"/>
                  </a:solidFill>
                  <a:latin typeface="Arial Bold"/>
                  <a:ea typeface="Arial Bold"/>
                  <a:cs typeface="Arial Bold"/>
                  <a:sym typeface="Arial Bold"/>
                </a:rPr>
                <a:t>Introduction</a:t>
              </a:r>
            </a:p>
          </p:txBody>
        </p:sp>
      </p:grpSp>
      <p:sp>
        <p:nvSpPr>
          <p:cNvPr name="Freeform 33" id="33"/>
          <p:cNvSpPr/>
          <p:nvPr/>
        </p:nvSpPr>
        <p:spPr>
          <a:xfrm flipH="false" flipV="false" rot="0">
            <a:off x="11554509" y="5495793"/>
            <a:ext cx="10647114" cy="6920117"/>
          </a:xfrm>
          <a:custGeom>
            <a:avLst/>
            <a:gdLst/>
            <a:ahLst/>
            <a:cxnLst/>
            <a:rect r="r" b="b" t="t" l="l"/>
            <a:pathLst>
              <a:path h="6920117" w="10647114">
                <a:moveTo>
                  <a:pt x="0" y="0"/>
                </a:moveTo>
                <a:lnTo>
                  <a:pt x="10647114" y="0"/>
                </a:lnTo>
                <a:lnTo>
                  <a:pt x="10647114" y="6920117"/>
                </a:lnTo>
                <a:lnTo>
                  <a:pt x="0" y="6920117"/>
                </a:lnTo>
                <a:lnTo>
                  <a:pt x="0" y="0"/>
                </a:lnTo>
                <a:close/>
              </a:path>
            </a:pathLst>
          </a:custGeom>
          <a:blipFill>
            <a:blip r:embed="rId14"/>
            <a:stretch>
              <a:fillRect l="0" t="-13455" r="-1216" b="-3925"/>
            </a:stretch>
          </a:blipFill>
        </p:spPr>
      </p:sp>
      <p:graphicFrame>
        <p:nvGraphicFramePr>
          <p:cNvPr name="Table 34" id="34"/>
          <p:cNvGraphicFramePr>
            <a:graphicFrameLocks noGrp="true"/>
          </p:cNvGraphicFramePr>
          <p:nvPr/>
        </p:nvGraphicFramePr>
        <p:xfrm>
          <a:off x="531490" y="20499017"/>
          <a:ext cx="31915444" cy="1621536"/>
        </p:xfrm>
        <a:graphic>
          <a:graphicData uri="http://schemas.openxmlformats.org/drawingml/2006/table">
            <a:tbl>
              <a:tblPr/>
              <a:tblGrid>
                <a:gridCol w="4573605"/>
                <a:gridCol w="6145336"/>
                <a:gridCol w="5208768"/>
                <a:gridCol w="4377065"/>
                <a:gridCol w="3732912"/>
                <a:gridCol w="4163273"/>
                <a:gridCol w="3714484"/>
              </a:tblGrid>
              <a:tr h="466725">
                <a:tc>
                  <a:txBody>
                    <a:bodyPr anchor="t" rtlCol="false"/>
                    <a:lstStyle/>
                    <a:p>
                      <a:pPr algn="ctr">
                        <a:lnSpc>
                          <a:spcPts val="2100"/>
                        </a:lnSpc>
                        <a:defRPr/>
                      </a:pPr>
                      <a:r>
                        <a:rPr lang="en-US" sz="1500">
                          <a:solidFill>
                            <a:srgbClr val="000000"/>
                          </a:solidFill>
                          <a:latin typeface="Arial"/>
                          <a:ea typeface="Arial"/>
                          <a:cs typeface="Arial"/>
                          <a:sym typeface="Arial"/>
                        </a:rPr>
                        <a:t>Szandala, "AIOps for Reliability," ICCS 2025</a:t>
                      </a:r>
                      <a:endParaRPr lang="en-US" sz="1100"/>
                    </a:p>
                  </a:txBody>
                  <a:tcPr marL="76200" marR="76200" marT="76200" marB="76200" anchor="t">
                    <a:lnL cmpd="sng" algn="ctr" cap="flat" w="0">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Kholkar &amp; Ahuja, "Guardrail Policy-as-Prompt," arXiv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Huang et al., "Resilience of Multi-Agent," arXiv 2024</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Zhang et al., "AgentOrchestra," arXiv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Yu et al., "Triangle," FSE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Xu et al., "OpenRCA," ICLR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Hong et al., "MetaGPT," ICLR 2023</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0">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r>
              <a:tr h="466725">
                <a:tc>
                  <a:txBody>
                    <a:bodyPr anchor="t" rtlCol="false"/>
                    <a:lstStyle/>
                    <a:p>
                      <a:pPr algn="ctr">
                        <a:lnSpc>
                          <a:spcPts val="2100"/>
                        </a:lnSpc>
                        <a:defRPr/>
                      </a:pPr>
                      <a:r>
                        <a:rPr lang="en-US" sz="1500">
                          <a:solidFill>
                            <a:srgbClr val="000000"/>
                          </a:solidFill>
                          <a:latin typeface="Arial"/>
                          <a:ea typeface="Arial"/>
                          <a:cs typeface="Arial"/>
                          <a:sym typeface="Arial"/>
                        </a:rPr>
                        <a:t>Salman et al., "HyLift 5G/6G," Computers 2025</a:t>
                      </a:r>
                      <a:endParaRPr lang="en-US" sz="1100"/>
                    </a:p>
                  </a:txBody>
                  <a:tcPr marL="76200" marR="76200" marT="76200" marB="76200" anchor="t">
                    <a:lnL cmpd="sng" algn="ctr" cap="flat" w="0">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Ashraf &amp; Talavera, "Autonomous Agents in SE,"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Zhang et al., "AIOps Survey," ACM Comp. Surveys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Liao et al., "SageCopilot," IEEE TSC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Zhou et al., "D-Bot," arXiv 2023</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Xu et al., "DivLog," ICSE 2024</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Li et al., "LACP," arXiv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0">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r>
              <a:tr h="688086">
                <a:tc>
                  <a:txBody>
                    <a:bodyPr anchor="t" rtlCol="false"/>
                    <a:lstStyle/>
                    <a:p>
                      <a:pPr algn="ctr">
                        <a:lnSpc>
                          <a:spcPts val="2100"/>
                        </a:lnSpc>
                        <a:defRPr/>
                      </a:pPr>
                      <a:r>
                        <a:rPr lang="en-US" sz="1500">
                          <a:solidFill>
                            <a:srgbClr val="000000"/>
                          </a:solidFill>
                          <a:latin typeface="Arial"/>
                          <a:ea typeface="Arial"/>
                          <a:cs typeface="Arial"/>
                          <a:sym typeface="Arial"/>
                        </a:rPr>
                        <a:t>Fu et al., "MARCA," Complex &amp; Intell. Sys. 2026</a:t>
                      </a:r>
                      <a:endParaRPr lang="en-US" sz="1100"/>
                    </a:p>
                  </a:txBody>
                  <a:tcPr marL="76200" marR="76200" marT="76200" marB="76200" anchor="t">
                    <a:lnL cmpd="sng" algn="ctr" cap="flat" w="0">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AWS Blog, "SRE Assistants + MCP,"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Bai et al., "AOI Framework," arXiv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Chen et al., "RCACopilot," EuroSys 2024</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Yue et al., "MasRouter," arXiv 2025</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Arial"/>
                          <a:ea typeface="Arial"/>
                          <a:cs typeface="Arial"/>
                          <a:sym typeface="Arial"/>
                        </a:rPr>
                        <a:t>Zhang et al., "FLASH," MS Research 2024</a:t>
                      </a: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9525">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c>
                  <a:txBody>
                    <a:bodyPr anchor="t" rtlCol="false"/>
                    <a:lstStyle/>
                    <a:p>
                      <a:pPr algn="ctr">
                        <a:lnSpc>
                          <a:spcPts val="1679"/>
                        </a:lnSpc>
                        <a:defRPr/>
                      </a:pPr>
                      <a:endParaRPr lang="en-US" sz="1100"/>
                    </a:p>
                  </a:txBody>
                  <a:tcPr marL="76200" marR="76200" marT="76200" marB="76200" anchor="t">
                    <a:lnL cmpd="sng" algn="ctr" cap="flat" w="9525">
                      <a:solidFill>
                        <a:srgbClr val="FAF9F8"/>
                      </a:solidFill>
                      <a:prstDash val="solid"/>
                      <a:round/>
                      <a:headEnd type="none" w="med" len="med"/>
                      <a:tailEnd type="none" w="med" len="med"/>
                    </a:lnL>
                    <a:lnR cmpd="sng" algn="ctr" cap="flat" w="0">
                      <a:solidFill>
                        <a:srgbClr val="FAF9F8"/>
                      </a:solidFill>
                      <a:prstDash val="solid"/>
                      <a:round/>
                      <a:headEnd type="none" w="med" len="med"/>
                      <a:tailEnd type="none" w="med" len="med"/>
                    </a:lnR>
                    <a:lnT cmpd="sng" algn="ctr" cap="flat" w="0">
                      <a:solidFill>
                        <a:srgbClr val="FAF9F8"/>
                      </a:solidFill>
                      <a:prstDash val="solid"/>
                      <a:round/>
                      <a:headEnd type="none" w="med" len="med"/>
                      <a:tailEnd type="none" w="med" len="med"/>
                    </a:lnT>
                    <a:lnB cmpd="sng" algn="ctr" cap="flat" w="0">
                      <a:solidFill>
                        <a:srgbClr val="FAF9F8"/>
                      </a:solidFill>
                      <a:prstDash val="solid"/>
                      <a:round/>
                      <a:headEnd type="none" w="med" len="med"/>
                      <a:tailEnd type="none" w="med" len="med"/>
                    </a:lnB>
                  </a:tcPr>
                </a:tc>
              </a:tr>
            </a:tbl>
          </a:graphicData>
        </a:graphic>
      </p:graphicFrame>
      <p:sp>
        <p:nvSpPr>
          <p:cNvPr name="Freeform 35" id="35"/>
          <p:cNvSpPr/>
          <p:nvPr/>
        </p:nvSpPr>
        <p:spPr>
          <a:xfrm flipH="false" flipV="false" rot="0">
            <a:off x="11554509" y="12415910"/>
            <a:ext cx="10647114" cy="7355038"/>
          </a:xfrm>
          <a:custGeom>
            <a:avLst/>
            <a:gdLst/>
            <a:ahLst/>
            <a:cxnLst/>
            <a:rect r="r" b="b" t="t" l="l"/>
            <a:pathLst>
              <a:path h="7355038" w="10647114">
                <a:moveTo>
                  <a:pt x="0" y="0"/>
                </a:moveTo>
                <a:lnTo>
                  <a:pt x="10647114" y="0"/>
                </a:lnTo>
                <a:lnTo>
                  <a:pt x="10647114" y="7355038"/>
                </a:lnTo>
                <a:lnTo>
                  <a:pt x="0" y="7355038"/>
                </a:lnTo>
                <a:lnTo>
                  <a:pt x="0" y="0"/>
                </a:lnTo>
                <a:close/>
              </a:path>
            </a:pathLst>
          </a:custGeom>
          <a:blipFill>
            <a:blip r:embed="rId15"/>
            <a:stretch>
              <a:fillRect l="0" t="-3680" r="-924" b="-2787"/>
            </a:stretch>
          </a:blipFill>
        </p:spPr>
      </p:sp>
      <p:sp>
        <p:nvSpPr>
          <p:cNvPr name="Freeform 36" id="36"/>
          <p:cNvSpPr/>
          <p:nvPr/>
        </p:nvSpPr>
        <p:spPr>
          <a:xfrm flipH="false" flipV="false" rot="0">
            <a:off x="28760566" y="291758"/>
            <a:ext cx="3926547" cy="1114158"/>
          </a:xfrm>
          <a:custGeom>
            <a:avLst/>
            <a:gdLst/>
            <a:ahLst/>
            <a:cxnLst/>
            <a:rect r="r" b="b" t="t" l="l"/>
            <a:pathLst>
              <a:path h="1114158" w="3926547">
                <a:moveTo>
                  <a:pt x="0" y="0"/>
                </a:moveTo>
                <a:lnTo>
                  <a:pt x="3926548" y="0"/>
                </a:lnTo>
                <a:lnTo>
                  <a:pt x="3926548" y="1114157"/>
                </a:lnTo>
                <a:lnTo>
                  <a:pt x="0" y="1114157"/>
                </a:lnTo>
                <a:lnTo>
                  <a:pt x="0" y="0"/>
                </a:lnTo>
                <a:close/>
              </a:path>
            </a:pathLst>
          </a:custGeom>
          <a:blipFill>
            <a:blip r:embed="rId16"/>
            <a:stretch>
              <a:fillRect l="0" t="0" r="0" b="0"/>
            </a:stretch>
          </a:blipFill>
        </p:spPr>
      </p:sp>
      <p:sp>
        <p:nvSpPr>
          <p:cNvPr name="TextBox 37" id="37"/>
          <p:cNvSpPr txBox="true"/>
          <p:nvPr/>
        </p:nvSpPr>
        <p:spPr>
          <a:xfrm rot="0">
            <a:off x="22589472" y="5306151"/>
            <a:ext cx="8736882" cy="6479540"/>
          </a:xfrm>
          <a:prstGeom prst="rect">
            <a:avLst/>
          </a:prstGeom>
        </p:spPr>
        <p:txBody>
          <a:bodyPr anchor="t" rtlCol="false" tIns="0" lIns="0" bIns="0" rIns="0">
            <a:spAutoFit/>
          </a:bodyPr>
          <a:lstStyle/>
          <a:p>
            <a:pPr algn="just" marL="464186" indent="-232093" lvl="1">
              <a:lnSpc>
                <a:spcPts val="3010"/>
              </a:lnSpc>
              <a:buFont typeface="Arial"/>
              <a:buChar char="•"/>
            </a:pPr>
            <a:r>
              <a:rPr lang="en-US" sz="2150">
                <a:solidFill>
                  <a:srgbClr val="000000"/>
                </a:solidFill>
                <a:latin typeface="Arial"/>
                <a:ea typeface="Arial"/>
                <a:cs typeface="Arial"/>
                <a:sym typeface="Arial"/>
              </a:rPr>
              <a:t>The agent correctly identified the root cause in all six experiments: 6/6 accuracy, averaging 2.2 cycles, 89 seconds, and $0.27 per run on GPT-4.1.</a:t>
            </a:r>
          </a:p>
          <a:p>
            <a:pPr algn="just" marL="464186" indent="-232093" lvl="1">
              <a:lnSpc>
                <a:spcPts val="3010"/>
              </a:lnSpc>
              <a:buFont typeface="Arial"/>
              <a:buChar char="•"/>
            </a:pPr>
            <a:r>
              <a:rPr lang="en-US" sz="2150">
                <a:solidFill>
                  <a:srgbClr val="000000"/>
                </a:solidFill>
                <a:latin typeface="Arial"/>
                <a:ea typeface="Arial"/>
                <a:cs typeface="Arial"/>
                <a:sym typeface="Arial"/>
              </a:rPr>
              <a:t>Simple cases (EXP-02, EXP-04) resolved in a single cycle when logs had clear error codes. EXP-05 (DNS corruption) was the hardest at 3 cycles, 155s, and $0.58, because symptoms appeared one layer away from the actual fault.</a:t>
            </a:r>
          </a:p>
          <a:p>
            <a:pPr algn="just" marL="464186" indent="-232093" lvl="1">
              <a:lnSpc>
                <a:spcPts val="3010"/>
              </a:lnSpc>
              <a:buFont typeface="Arial"/>
              <a:buChar char="•"/>
            </a:pPr>
            <a:r>
              <a:rPr lang="en-US" sz="2150">
                <a:solidFill>
                  <a:srgbClr val="000000"/>
                </a:solidFill>
                <a:latin typeface="Arial"/>
                <a:ea typeface="Arial"/>
                <a:cs typeface="Arial"/>
                <a:sym typeface="Arial"/>
              </a:rPr>
              <a:t>Five fault domains, two failure modes: total outages (EXP-02, EXP-03) and partial degradation (EXP-01, EXP-04, EXP-05, EXP-06). Degraded-but-running faults consistently needed more investigation cycles.</a:t>
            </a:r>
          </a:p>
          <a:p>
            <a:pPr algn="just" marL="464186" indent="-232093" lvl="1">
              <a:lnSpc>
                <a:spcPts val="3010"/>
              </a:lnSpc>
              <a:buFont typeface="Arial"/>
              <a:buChar char="•"/>
            </a:pPr>
            <a:r>
              <a:rPr lang="en-US" sz="2150">
                <a:solidFill>
                  <a:srgbClr val="000000"/>
                </a:solidFill>
                <a:latin typeface="Arial"/>
                <a:ea typeface="Arial"/>
                <a:cs typeface="Arial"/>
                <a:sym typeface="Arial"/>
              </a:rPr>
              <a:t>The iterative loop proved critical for indirect faults. In EXP-05, cycle 1 found symptoms in Postfix logs, but two more rounds were needed to trace them to a corrupted /etc/resolv.conf.</a:t>
            </a:r>
          </a:p>
          <a:p>
            <a:pPr algn="just" marL="464186" indent="-232093" lvl="1">
              <a:lnSpc>
                <a:spcPts val="3010"/>
              </a:lnSpc>
              <a:buFont typeface="Arial"/>
              <a:buChar char="•"/>
            </a:pPr>
            <a:r>
              <a:rPr lang="en-US" sz="2150">
                <a:solidFill>
                  <a:srgbClr val="000000"/>
                </a:solidFill>
                <a:latin typeface="Arial"/>
                <a:ea typeface="Arial"/>
                <a:cs typeface="Arial"/>
                <a:sym typeface="Arial"/>
              </a:rPr>
              <a:t>At $0.04 to $0.58 per run, the cost stays well within range for production use where faster diagnosis pays for itself.</a:t>
            </a:r>
          </a:p>
          <a:p>
            <a:pPr algn="just">
              <a:lnSpc>
                <a:spcPts val="3010"/>
              </a:lnSpc>
            </a:pPr>
          </a:p>
        </p:txBody>
      </p:sp>
      <p:grpSp>
        <p:nvGrpSpPr>
          <p:cNvPr name="Group 38" id="38"/>
          <p:cNvGrpSpPr/>
          <p:nvPr/>
        </p:nvGrpSpPr>
        <p:grpSpPr>
          <a:xfrm rot="0">
            <a:off x="23089688" y="3400191"/>
            <a:ext cx="8022888" cy="1334770"/>
            <a:chOff x="0" y="0"/>
            <a:chExt cx="10697184" cy="1779694"/>
          </a:xfrm>
        </p:grpSpPr>
        <p:sp>
          <p:nvSpPr>
            <p:cNvPr name="TextBox 39" id="39"/>
            <p:cNvSpPr txBox="true"/>
            <p:nvPr/>
          </p:nvSpPr>
          <p:spPr>
            <a:xfrm rot="0">
              <a:off x="0" y="869527"/>
              <a:ext cx="10697184" cy="910167"/>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000000"/>
                  </a:solidFill>
                  <a:latin typeface="Arial Bold"/>
                  <a:ea typeface="Arial Bold"/>
                  <a:cs typeface="Arial Bold"/>
                  <a:sym typeface="Arial Bold"/>
                </a:rPr>
                <a:t>Northeaster</a:t>
              </a:r>
              <a:r>
                <a:rPr lang="en-US" b="true" sz="1999" strike="noStrike" u="none">
                  <a:solidFill>
                    <a:srgbClr val="000000"/>
                  </a:solidFill>
                  <a:latin typeface="Arial Bold"/>
                  <a:ea typeface="Arial Bold"/>
                  <a:cs typeface="Arial Bold"/>
                  <a:sym typeface="Arial Bold"/>
                </a:rPr>
                <a:t>n University, Khoury College of Computer Sciences</a:t>
              </a:r>
            </a:p>
            <a:p>
              <a:pPr algn="ctr" marL="0" indent="0" lvl="0">
                <a:lnSpc>
                  <a:spcPts val="2799"/>
                </a:lnSpc>
                <a:spcBef>
                  <a:spcPct val="0"/>
                </a:spcBef>
              </a:pPr>
            </a:p>
          </p:txBody>
        </p:sp>
        <p:sp>
          <p:nvSpPr>
            <p:cNvPr name="TextBox 40" id="40"/>
            <p:cNvSpPr txBox="true"/>
            <p:nvPr/>
          </p:nvSpPr>
          <p:spPr>
            <a:xfrm rot="0">
              <a:off x="0" y="-85725"/>
              <a:ext cx="10697184" cy="726652"/>
            </a:xfrm>
            <a:prstGeom prst="rect">
              <a:avLst/>
            </a:prstGeom>
          </p:spPr>
          <p:txBody>
            <a:bodyPr anchor="t" rtlCol="false" tIns="0" lIns="0" bIns="0" rIns="0">
              <a:spAutoFit/>
            </a:bodyPr>
            <a:lstStyle/>
            <a:p>
              <a:pPr algn="ctr">
                <a:lnSpc>
                  <a:spcPts val="4480"/>
                </a:lnSpc>
              </a:pPr>
              <a:r>
                <a:rPr lang="en-US" sz="3200" b="true">
                  <a:solidFill>
                    <a:srgbClr val="000000"/>
                  </a:solidFill>
                  <a:latin typeface="Arial Bold"/>
                  <a:ea typeface="Arial Bold"/>
                  <a:cs typeface="Arial Bold"/>
                  <a:sym typeface="Arial Bold"/>
                </a:rPr>
                <a:t>Affiliations</a:t>
              </a:r>
            </a:p>
          </p:txBody>
        </p:sp>
      </p:grpSp>
      <p:grpSp>
        <p:nvGrpSpPr>
          <p:cNvPr name="Group 41" id="41"/>
          <p:cNvGrpSpPr/>
          <p:nvPr/>
        </p:nvGrpSpPr>
        <p:grpSpPr>
          <a:xfrm rot="0">
            <a:off x="2998175" y="3368441"/>
            <a:ext cx="5736266" cy="982345"/>
            <a:chOff x="0" y="0"/>
            <a:chExt cx="7648355" cy="1309794"/>
          </a:xfrm>
        </p:grpSpPr>
        <p:sp>
          <p:nvSpPr>
            <p:cNvPr name="TextBox 42" id="42"/>
            <p:cNvSpPr txBox="true"/>
            <p:nvPr/>
          </p:nvSpPr>
          <p:spPr>
            <a:xfrm rot="0">
              <a:off x="0" y="869527"/>
              <a:ext cx="7648355" cy="440267"/>
            </a:xfrm>
            <a:prstGeom prst="rect">
              <a:avLst/>
            </a:prstGeom>
          </p:spPr>
          <p:txBody>
            <a:bodyPr anchor="t" rtlCol="false" tIns="0" lIns="0" bIns="0" rIns="0">
              <a:spAutoFit/>
            </a:bodyPr>
            <a:lstStyle/>
            <a:p>
              <a:pPr algn="ctr">
                <a:lnSpc>
                  <a:spcPts val="2799"/>
                </a:lnSpc>
              </a:pPr>
              <a:r>
                <a:rPr lang="en-US" sz="1999" b="true">
                  <a:solidFill>
                    <a:srgbClr val="000000"/>
                  </a:solidFill>
                  <a:latin typeface="Arial Bold"/>
                  <a:ea typeface="Arial Bold"/>
                  <a:cs typeface="Arial Bold"/>
                  <a:sym typeface="Arial Bold"/>
                </a:rPr>
                <a:t>Kalhar Pandya</a:t>
              </a:r>
            </a:p>
          </p:txBody>
        </p:sp>
        <p:sp>
          <p:nvSpPr>
            <p:cNvPr name="TextBox 43" id="43"/>
            <p:cNvSpPr txBox="true"/>
            <p:nvPr/>
          </p:nvSpPr>
          <p:spPr>
            <a:xfrm rot="0">
              <a:off x="0" y="-85725"/>
              <a:ext cx="7648355" cy="726652"/>
            </a:xfrm>
            <a:prstGeom prst="rect">
              <a:avLst/>
            </a:prstGeom>
          </p:spPr>
          <p:txBody>
            <a:bodyPr anchor="t" rtlCol="false" tIns="0" lIns="0" bIns="0" rIns="0">
              <a:spAutoFit/>
            </a:bodyPr>
            <a:lstStyle/>
            <a:p>
              <a:pPr algn="ctr">
                <a:lnSpc>
                  <a:spcPts val="4480"/>
                </a:lnSpc>
              </a:pPr>
              <a:r>
                <a:rPr lang="en-US" sz="3200" b="true">
                  <a:solidFill>
                    <a:srgbClr val="000000"/>
                  </a:solidFill>
                  <a:latin typeface="Arial Bold"/>
                  <a:ea typeface="Arial Bold"/>
                  <a:cs typeface="Arial Bold"/>
                  <a:sym typeface="Arial Bold"/>
                </a:rPr>
                <a:t>Authors</a:t>
              </a:r>
            </a:p>
          </p:txBody>
        </p:sp>
      </p:grpSp>
      <p:grpSp>
        <p:nvGrpSpPr>
          <p:cNvPr name="Group 44" id="44"/>
          <p:cNvGrpSpPr/>
          <p:nvPr/>
        </p:nvGrpSpPr>
        <p:grpSpPr>
          <a:xfrm rot="0">
            <a:off x="3594566" y="449586"/>
            <a:ext cx="26362234" cy="3526788"/>
            <a:chOff x="0" y="0"/>
            <a:chExt cx="35149646" cy="4702384"/>
          </a:xfrm>
        </p:grpSpPr>
        <p:sp>
          <p:nvSpPr>
            <p:cNvPr name="TextBox 45" id="45"/>
            <p:cNvSpPr txBox="true"/>
            <p:nvPr/>
          </p:nvSpPr>
          <p:spPr>
            <a:xfrm rot="0">
              <a:off x="0" y="2125953"/>
              <a:ext cx="35149646" cy="2576431"/>
            </a:xfrm>
            <a:prstGeom prst="rect">
              <a:avLst/>
            </a:prstGeom>
          </p:spPr>
          <p:txBody>
            <a:bodyPr anchor="t" rtlCol="false" tIns="0" lIns="0" bIns="0" rIns="0">
              <a:spAutoFit/>
            </a:bodyPr>
            <a:lstStyle/>
            <a:p>
              <a:pPr algn="ctr">
                <a:lnSpc>
                  <a:spcPts val="5548"/>
                </a:lnSpc>
              </a:pPr>
              <a:r>
                <a:rPr lang="en-US" sz="3963">
                  <a:solidFill>
                    <a:srgbClr val="FFFFFF"/>
                  </a:solidFill>
                  <a:latin typeface="Poppins"/>
                  <a:ea typeface="Poppins"/>
                  <a:cs typeface="Poppins"/>
                  <a:sym typeface="Poppins"/>
                </a:rPr>
                <a:t>Automated fault diagnosis for microservice systems using LLM-powered specialist agents</a:t>
              </a:r>
            </a:p>
            <a:p>
              <a:pPr algn="l">
                <a:lnSpc>
                  <a:spcPts val="4802"/>
                </a:lnSpc>
              </a:pPr>
            </a:p>
            <a:p>
              <a:pPr algn="l">
                <a:lnSpc>
                  <a:spcPts val="5082"/>
                </a:lnSpc>
              </a:pPr>
            </a:p>
          </p:txBody>
        </p:sp>
        <p:sp>
          <p:nvSpPr>
            <p:cNvPr name="TextBox 46" id="46"/>
            <p:cNvSpPr txBox="true"/>
            <p:nvPr/>
          </p:nvSpPr>
          <p:spPr>
            <a:xfrm rot="0">
              <a:off x="0" y="-104775"/>
              <a:ext cx="32725214" cy="2345028"/>
            </a:xfrm>
            <a:prstGeom prst="rect">
              <a:avLst/>
            </a:prstGeom>
          </p:spPr>
          <p:txBody>
            <a:bodyPr anchor="t" rtlCol="false" tIns="0" lIns="0" bIns="0" rIns="0">
              <a:spAutoFit/>
            </a:bodyPr>
            <a:lstStyle/>
            <a:p>
              <a:pPr algn="ctr">
                <a:lnSpc>
                  <a:spcPts val="7141"/>
                </a:lnSpc>
              </a:pPr>
              <a:r>
                <a:rPr lang="en-US" sz="5100">
                  <a:solidFill>
                    <a:srgbClr val="FFFFFF"/>
                  </a:solidFill>
                  <a:latin typeface="League Spartan"/>
                  <a:ea typeface="League Spartan"/>
                  <a:cs typeface="League Spartan"/>
                  <a:sym typeface="League Spartan"/>
                </a:rPr>
                <a:t>OPEN SOURCE LLM-ASSISTED TRIAGE: A MULTI-AGENT FRAMEWORK FOR AUTOMATED INCIDENT ROOT CAUSE ANALYSIS</a:t>
              </a:r>
            </a:p>
          </p:txBody>
        </p:sp>
      </p:grpSp>
      <p:grpSp>
        <p:nvGrpSpPr>
          <p:cNvPr name="Group 47" id="47"/>
          <p:cNvGrpSpPr/>
          <p:nvPr/>
        </p:nvGrpSpPr>
        <p:grpSpPr>
          <a:xfrm rot="0">
            <a:off x="15088259" y="3398127"/>
            <a:ext cx="6503421" cy="982345"/>
            <a:chOff x="0" y="0"/>
            <a:chExt cx="8671228" cy="1309794"/>
          </a:xfrm>
        </p:grpSpPr>
        <p:sp>
          <p:nvSpPr>
            <p:cNvPr name="TextBox 48" id="48"/>
            <p:cNvSpPr txBox="true"/>
            <p:nvPr/>
          </p:nvSpPr>
          <p:spPr>
            <a:xfrm rot="0">
              <a:off x="0" y="869527"/>
              <a:ext cx="8671228" cy="440267"/>
            </a:xfrm>
            <a:prstGeom prst="rect">
              <a:avLst/>
            </a:prstGeom>
          </p:spPr>
          <p:txBody>
            <a:bodyPr anchor="t" rtlCol="false" tIns="0" lIns="0" bIns="0" rIns="0">
              <a:spAutoFit/>
            </a:bodyPr>
            <a:lstStyle/>
            <a:p>
              <a:pPr algn="ctr">
                <a:lnSpc>
                  <a:spcPts val="2799"/>
                </a:lnSpc>
              </a:pPr>
              <a:r>
                <a:rPr lang="en-US" sz="1999" b="true">
                  <a:solidFill>
                    <a:srgbClr val="000000"/>
                  </a:solidFill>
                  <a:latin typeface="Arial Bold"/>
                  <a:ea typeface="Arial Bold"/>
                  <a:cs typeface="Arial Bold"/>
                  <a:sym typeface="Arial Bold"/>
                </a:rPr>
                <a:t>Dr. Dawood Sajjadi, Director of SRE, Fortinet</a:t>
              </a:r>
            </a:p>
          </p:txBody>
        </p:sp>
        <p:sp>
          <p:nvSpPr>
            <p:cNvPr name="TextBox 49" id="49"/>
            <p:cNvSpPr txBox="true"/>
            <p:nvPr/>
          </p:nvSpPr>
          <p:spPr>
            <a:xfrm rot="0">
              <a:off x="0" y="-85725"/>
              <a:ext cx="8671228" cy="726652"/>
            </a:xfrm>
            <a:prstGeom prst="rect">
              <a:avLst/>
            </a:prstGeom>
          </p:spPr>
          <p:txBody>
            <a:bodyPr anchor="t" rtlCol="false" tIns="0" lIns="0" bIns="0" rIns="0">
              <a:spAutoFit/>
            </a:bodyPr>
            <a:lstStyle/>
            <a:p>
              <a:pPr algn="ctr">
                <a:lnSpc>
                  <a:spcPts val="4480"/>
                </a:lnSpc>
              </a:pPr>
              <a:r>
                <a:rPr lang="en-US" sz="3200" b="true">
                  <a:solidFill>
                    <a:srgbClr val="000000"/>
                  </a:solidFill>
                  <a:latin typeface="Arial Bold"/>
                  <a:ea typeface="Arial Bold"/>
                  <a:cs typeface="Arial Bold"/>
                  <a:sym typeface="Arial Bold"/>
                </a:rPr>
                <a:t>Consultant</a:t>
              </a:r>
            </a:p>
          </p:txBody>
        </p:sp>
      </p:grpSp>
      <p:grpSp>
        <p:nvGrpSpPr>
          <p:cNvPr name="Group 50" id="50"/>
          <p:cNvGrpSpPr/>
          <p:nvPr/>
        </p:nvGrpSpPr>
        <p:grpSpPr>
          <a:xfrm rot="0">
            <a:off x="8734441" y="3368441"/>
            <a:ext cx="5640137" cy="982345"/>
            <a:chOff x="0" y="0"/>
            <a:chExt cx="7520182" cy="1309794"/>
          </a:xfrm>
        </p:grpSpPr>
        <p:sp>
          <p:nvSpPr>
            <p:cNvPr name="TextBox 51" id="51"/>
            <p:cNvSpPr txBox="true"/>
            <p:nvPr/>
          </p:nvSpPr>
          <p:spPr>
            <a:xfrm rot="0">
              <a:off x="0" y="869527"/>
              <a:ext cx="7520182" cy="440267"/>
            </a:xfrm>
            <a:prstGeom prst="rect">
              <a:avLst/>
            </a:prstGeom>
          </p:spPr>
          <p:txBody>
            <a:bodyPr anchor="t" rtlCol="false" tIns="0" lIns="0" bIns="0" rIns="0">
              <a:spAutoFit/>
            </a:bodyPr>
            <a:lstStyle/>
            <a:p>
              <a:pPr algn="ctr">
                <a:lnSpc>
                  <a:spcPts val="2799"/>
                </a:lnSpc>
              </a:pPr>
              <a:r>
                <a:rPr lang="en-US" sz="1999" b="true">
                  <a:solidFill>
                    <a:srgbClr val="000000"/>
                  </a:solidFill>
                  <a:latin typeface="Arial Bold"/>
                  <a:ea typeface="Arial Bold"/>
                  <a:cs typeface="Arial Bold"/>
                  <a:sym typeface="Arial Bold"/>
                </a:rPr>
                <a:t>Dr. Maryam Tanha</a:t>
              </a:r>
            </a:p>
          </p:txBody>
        </p:sp>
        <p:sp>
          <p:nvSpPr>
            <p:cNvPr name="TextBox 52" id="52"/>
            <p:cNvSpPr txBox="true"/>
            <p:nvPr/>
          </p:nvSpPr>
          <p:spPr>
            <a:xfrm rot="0">
              <a:off x="0" y="-85725"/>
              <a:ext cx="7520182" cy="726652"/>
            </a:xfrm>
            <a:prstGeom prst="rect">
              <a:avLst/>
            </a:prstGeom>
          </p:spPr>
          <p:txBody>
            <a:bodyPr anchor="t" rtlCol="false" tIns="0" lIns="0" bIns="0" rIns="0">
              <a:spAutoFit/>
            </a:bodyPr>
            <a:lstStyle/>
            <a:p>
              <a:pPr algn="ctr">
                <a:lnSpc>
                  <a:spcPts val="4480"/>
                </a:lnSpc>
              </a:pPr>
              <a:r>
                <a:rPr lang="en-US" sz="3200" b="true">
                  <a:solidFill>
                    <a:srgbClr val="000000"/>
                  </a:solidFill>
                  <a:latin typeface="Arial Bold"/>
                  <a:ea typeface="Arial Bold"/>
                  <a:cs typeface="Arial Bold"/>
                  <a:sym typeface="Arial Bold"/>
                </a:rPr>
                <a:t>Advisor</a:t>
              </a:r>
            </a:p>
          </p:txBody>
        </p:sp>
      </p:grpSp>
      <p:sp>
        <p:nvSpPr>
          <p:cNvPr name="TextBox 53" id="53"/>
          <p:cNvSpPr txBox="true"/>
          <p:nvPr/>
        </p:nvSpPr>
        <p:spPr>
          <a:xfrm rot="0">
            <a:off x="11554509" y="4936767"/>
            <a:ext cx="10647114" cy="500696"/>
          </a:xfrm>
          <a:prstGeom prst="rect">
            <a:avLst/>
          </a:prstGeom>
        </p:spPr>
        <p:txBody>
          <a:bodyPr anchor="t" rtlCol="false" tIns="0" lIns="0" bIns="0" rIns="0">
            <a:spAutoFit/>
          </a:bodyPr>
          <a:lstStyle/>
          <a:p>
            <a:pPr algn="ctr" marL="0" indent="0" lvl="0">
              <a:lnSpc>
                <a:spcPts val="3902"/>
              </a:lnSpc>
              <a:spcBef>
                <a:spcPct val="0"/>
              </a:spcBef>
            </a:pPr>
            <a:r>
              <a:rPr lang="en-US" b="true" sz="2787" strike="noStrike" u="none">
                <a:solidFill>
                  <a:srgbClr val="4F75A4"/>
                </a:solidFill>
                <a:latin typeface="Arial Bold"/>
                <a:ea typeface="Arial Bold"/>
                <a:cs typeface="Arial Bold"/>
                <a:sym typeface="Arial Bold"/>
              </a:rPr>
              <a:t>System Overview: Hierarchical Multi-Agent RCA Architecture</a:t>
            </a:r>
          </a:p>
        </p:txBody>
      </p:sp>
      <p:sp>
        <p:nvSpPr>
          <p:cNvPr name="TextBox 54" id="54"/>
          <p:cNvSpPr txBox="true"/>
          <p:nvPr/>
        </p:nvSpPr>
        <p:spPr>
          <a:xfrm rot="0">
            <a:off x="14988543" y="19915237"/>
            <a:ext cx="3101132" cy="608145"/>
          </a:xfrm>
          <a:prstGeom prst="rect">
            <a:avLst/>
          </a:prstGeom>
        </p:spPr>
        <p:txBody>
          <a:bodyPr anchor="t" rtlCol="false" tIns="0" lIns="0" bIns="0" rIns="0">
            <a:spAutoFit/>
          </a:bodyPr>
          <a:lstStyle/>
          <a:p>
            <a:pPr algn="ctr" marL="0" indent="0" lvl="0">
              <a:lnSpc>
                <a:spcPts val="4805"/>
              </a:lnSpc>
              <a:spcBef>
                <a:spcPct val="0"/>
              </a:spcBef>
            </a:pPr>
            <a:r>
              <a:rPr lang="en-US" sz="3432" strike="noStrike" u="none">
                <a:solidFill>
                  <a:srgbClr val="4F75A4"/>
                </a:solidFill>
                <a:latin typeface="Arial"/>
                <a:ea typeface="Arial"/>
                <a:cs typeface="Arial"/>
                <a:sym typeface="Arial"/>
              </a:rPr>
              <a:t>Key References</a:t>
            </a:r>
          </a:p>
        </p:txBody>
      </p:sp>
      <p:pic>
        <p:nvPicPr>
          <p:cNvPr name="Picture 55" id="55"/>
          <p:cNvPicPr>
            <a:picLocks noChangeAspect="true"/>
          </p:cNvPicPr>
          <p:nvPr/>
        </p:nvPicPr>
        <p:blipFill>
          <a:blip r:embed="rId17"/>
          <a:stretch>
            <a:fillRect/>
          </a:stretch>
        </p:blipFill>
        <p:spPr>
          <a:xfrm rot="0">
            <a:off x="2536063" y="387366"/>
            <a:ext cx="1687925" cy="1687925"/>
          </a:xfrm>
          <a:prstGeom prst="rect">
            <a:avLst/>
          </a:prstGeom>
        </p:spPr>
      </p:pic>
      <p:sp>
        <p:nvSpPr>
          <p:cNvPr name="TextBox 56" id="56"/>
          <p:cNvSpPr txBox="true"/>
          <p:nvPr/>
        </p:nvSpPr>
        <p:spPr>
          <a:xfrm rot="0">
            <a:off x="3012006" y="2106457"/>
            <a:ext cx="736038" cy="325788"/>
          </a:xfrm>
          <a:prstGeom prst="rect">
            <a:avLst/>
          </a:prstGeom>
        </p:spPr>
        <p:txBody>
          <a:bodyPr anchor="t" rtlCol="false" tIns="0" lIns="0" bIns="0" rIns="0">
            <a:spAutoFit/>
          </a:bodyPr>
          <a:lstStyle/>
          <a:p>
            <a:pPr algn="ctr" marL="0" indent="0" lvl="0">
              <a:lnSpc>
                <a:spcPts val="2519"/>
              </a:lnSpc>
              <a:spcBef>
                <a:spcPct val="0"/>
              </a:spcBef>
            </a:pPr>
            <a:r>
              <a:rPr lang="en-US" b="true" sz="1799" strike="noStrike" u="sng">
                <a:solidFill>
                  <a:srgbClr val="000000"/>
                </a:solidFill>
                <a:latin typeface="Arial Bold"/>
                <a:ea typeface="Arial Bold"/>
                <a:cs typeface="Arial Bold"/>
                <a:sym typeface="Arial Bold"/>
              </a:rPr>
              <a:t>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DAHFZaZOPqQ</dc:identifier>
  <dcterms:modified xsi:type="dcterms:W3CDTF">2011-08-01T06:04:30Z</dcterms:modified>
  <cp:revision>1</cp:revision>
  <dc:title>Kalhar-research-poster</dc:title>
</cp:coreProperties>
</file>