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1pPr>
    <a:lvl2pPr marL="1842672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2pPr>
    <a:lvl3pPr marL="3685339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3pPr>
    <a:lvl4pPr marL="5528011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4pPr>
    <a:lvl5pPr marL="7370683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5pPr>
    <a:lvl6pPr marL="9213350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6pPr>
    <a:lvl7pPr marL="11056022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7pPr>
    <a:lvl8pPr marL="12898690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8pPr>
    <a:lvl9pPr marL="14741362" algn="l" defTabSz="3685339" rtl="0" eaLnBrk="1" latinLnBrk="0" hangingPunct="1">
      <a:defRPr sz="72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EFF"/>
    <a:srgbClr val="CBE5FF"/>
    <a:srgbClr val="C4E2FF"/>
    <a:srgbClr val="BDDEFF"/>
    <a:srgbClr val="D9ECFF"/>
    <a:srgbClr val="DFEFFF"/>
    <a:srgbClr val="C4E1FF"/>
    <a:srgbClr val="A7D3FF"/>
    <a:srgbClr val="99CC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2491" autoAdjust="0"/>
  </p:normalViewPr>
  <p:slideViewPr>
    <p:cSldViewPr snapToGrid="0">
      <p:cViewPr varScale="1">
        <p:scale>
          <a:sx n="25" d="100"/>
          <a:sy n="25" d="100"/>
        </p:scale>
        <p:origin x="13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1E7F9-983F-4EBA-8B82-F50A297EF965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0C68-88B0-4F42-A5F8-509C290E5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1pPr>
    <a:lvl2pPr marL="485938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2pPr>
    <a:lvl3pPr marL="971870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3pPr>
    <a:lvl4pPr marL="1457808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4pPr>
    <a:lvl5pPr marL="1943746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5pPr>
    <a:lvl6pPr marL="2429683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6pPr>
    <a:lvl7pPr marL="2915616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7pPr>
    <a:lvl8pPr marL="3401554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8pPr>
    <a:lvl9pPr marL="3887491" algn="l" defTabSz="971870" rtl="0" eaLnBrk="1" latinLnBrk="0" hangingPunct="1">
      <a:defRPr sz="12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40C68-88B0-4F42-A5F8-509C290E50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4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0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4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60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4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3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C7BD1-C2C4-46F8-BCCF-591EA74A29B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6688-F218-4D38-BBB2-0D6FCBB43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3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mailto:rmoradir@sfu.ca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rgbClr val="BDDE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48895" y="1014526"/>
            <a:ext cx="43823195" cy="5702973"/>
          </a:xfrm>
          <a:prstGeom prst="rect">
            <a:avLst/>
          </a:prstGeom>
          <a:solidFill>
            <a:srgbClr val="BD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</a:endParaRPr>
          </a:p>
        </p:txBody>
      </p:sp>
      <p:pic>
        <p:nvPicPr>
          <p:cNvPr id="346" name="Picture 34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241" b="15334"/>
          <a:stretch/>
        </p:blipFill>
        <p:spPr>
          <a:xfrm>
            <a:off x="39493852" y="32122586"/>
            <a:ext cx="731520" cy="507852"/>
          </a:xfrm>
          <a:prstGeom prst="rect">
            <a:avLst/>
          </a:prstGeom>
        </p:spPr>
      </p:pic>
      <p:sp>
        <p:nvSpPr>
          <p:cNvPr id="347" name="Rectangle 346"/>
          <p:cNvSpPr/>
          <p:nvPr/>
        </p:nvSpPr>
        <p:spPr>
          <a:xfrm>
            <a:off x="40187633" y="31949741"/>
            <a:ext cx="38408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4000" dirty="0" err="1">
                <a:latin typeface="Cambria" panose="02040503050406030204" pitchFamily="18" charset="0"/>
                <a:hlinkClick r:id="rId4"/>
              </a:rPr>
              <a:t>Johndoe@</a:t>
            </a:r>
            <a:r>
              <a:rPr lang="en-MY" sz="4000" dirty="0" err="1">
                <a:latin typeface="Cambria" panose="02040503050406030204" pitchFamily="18" charset="0"/>
              </a:rPr>
              <a:t>edu</a:t>
            </a:r>
            <a:r>
              <a:rPr lang="en-MY" sz="4000" dirty="0">
                <a:latin typeface="Cambria" panose="02040503050406030204" pitchFamily="18" charset="0"/>
              </a:rPr>
              <a:t> </a:t>
            </a:r>
            <a:endParaRPr lang="en-US" sz="4000" dirty="0">
              <a:latin typeface="Cambria" panose="02040503050406030204" pitchFamily="18" charset="0"/>
            </a:endParaRPr>
          </a:p>
        </p:txBody>
      </p:sp>
      <p:sp>
        <p:nvSpPr>
          <p:cNvPr id="349" name="Rectangle 348"/>
          <p:cNvSpPr/>
          <p:nvPr/>
        </p:nvSpPr>
        <p:spPr>
          <a:xfrm>
            <a:off x="28126325" y="31914572"/>
            <a:ext cx="49968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MY" sz="4000" b="1" dirty="0">
                <a:latin typeface="Cambria" panose="02040503050406030204" pitchFamily="18" charset="0"/>
              </a:rPr>
              <a:t>Presenter: John Doe</a:t>
            </a:r>
            <a:r>
              <a:rPr lang="en-MY" sz="4000" dirty="0"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7001" y="940641"/>
            <a:ext cx="38414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Cambria" panose="02040503050406030204" pitchFamily="18" charset="0"/>
              </a:rPr>
              <a:t>Research Project Title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0677" y="5714059"/>
            <a:ext cx="12083626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1. Background</a:t>
            </a:r>
            <a:endParaRPr lang="en-US" sz="6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512914" y="13640731"/>
            <a:ext cx="1210139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2. Motivations &amp; Objectives</a:t>
            </a:r>
            <a:endParaRPr lang="en-US" sz="6000" b="1" dirty="0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13169644" y="5729066"/>
            <a:ext cx="1444752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3. Related Work</a:t>
            </a:r>
            <a:endParaRPr lang="en-US" sz="6000" b="1" dirty="0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13169644" y="11856417"/>
            <a:ext cx="1444752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4. Methodology</a:t>
            </a:r>
            <a:endParaRPr lang="en-US" sz="6000" b="1" dirty="0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Rounded Rectangle 230"/>
          <p:cNvSpPr/>
          <p:nvPr/>
        </p:nvSpPr>
        <p:spPr>
          <a:xfrm>
            <a:off x="28202742" y="28313239"/>
            <a:ext cx="1517904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6. Conclusion &amp; Future Work</a:t>
            </a:r>
            <a:endParaRPr lang="en-US" sz="6000" b="1" dirty="0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30677" y="14599592"/>
            <a:ext cx="12073044" cy="165173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914400"/>
            <a:endParaRPr lang="en-US" sz="1000" b="1" dirty="0">
              <a:latin typeface="Cambria" panose="02040503050406030204" pitchFamily="18" charset="0"/>
            </a:endParaRPr>
          </a:p>
          <a:p>
            <a:pPr>
              <a:spcBef>
                <a:spcPts val="200"/>
              </a:spcBef>
              <a:buClr>
                <a:srgbClr val="0070C0"/>
              </a:buClr>
              <a:buSzPct val="125000"/>
            </a:pPr>
            <a:r>
              <a:rPr lang="en-US" altLang="en-US" sz="4400" b="1" dirty="0">
                <a:latin typeface="Cambria" panose="02040503050406030204" pitchFamily="18" charset="0"/>
              </a:rPr>
              <a:t>      Convention</a:t>
            </a:r>
          </a:p>
          <a:p>
            <a:pPr>
              <a:spcBef>
                <a:spcPts val="200"/>
              </a:spcBef>
            </a:pPr>
            <a:r>
              <a:rPr lang="en-US" altLang="en-US" sz="4400" dirty="0"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lang="en-US" sz="3400" dirty="0">
              <a:latin typeface="Cambria" panose="02040503050406030204" pitchFamily="18" charset="0"/>
            </a:endParaRPr>
          </a:p>
        </p:txBody>
      </p:sp>
      <p:pic>
        <p:nvPicPr>
          <p:cNvPr id="103" name="Picture 102"/>
          <p:cNvPicPr preferRelativeResize="0"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11" t="43678" r="52285" b="20660"/>
          <a:stretch/>
        </p:blipFill>
        <p:spPr>
          <a:xfrm>
            <a:off x="609246" y="14833333"/>
            <a:ext cx="640080" cy="658368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15651" y="16614114"/>
            <a:ext cx="12080147" cy="2461210"/>
            <a:chOff x="515651" y="21154024"/>
            <a:chExt cx="12080147" cy="2461210"/>
          </a:xfrm>
        </p:grpSpPr>
        <p:sp>
          <p:nvSpPr>
            <p:cNvPr id="303" name="Down Arrow 302"/>
            <p:cNvSpPr/>
            <p:nvPr/>
          </p:nvSpPr>
          <p:spPr>
            <a:xfrm>
              <a:off x="515651" y="21301267"/>
              <a:ext cx="12064105" cy="2313967"/>
            </a:xfrm>
            <a:prstGeom prst="downArrow">
              <a:avLst>
                <a:gd name="adj1" fmla="val 100000"/>
                <a:gd name="adj2" fmla="val 55783"/>
              </a:avLst>
            </a:pr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91440" tIns="0" rIns="91440" bIns="91440" anchor="ctr" anchorCtr="0"/>
            <a:lstStyle/>
            <a:p>
              <a:pPr algn="ctr"/>
              <a:endParaRPr lang="en-US" sz="7000" b="1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" name="Down Arrow 106"/>
            <p:cNvSpPr/>
            <p:nvPr/>
          </p:nvSpPr>
          <p:spPr>
            <a:xfrm>
              <a:off x="531693" y="21154024"/>
              <a:ext cx="12064105" cy="1818059"/>
            </a:xfrm>
            <a:prstGeom prst="downArrow">
              <a:avLst>
                <a:gd name="adj1" fmla="val 100000"/>
                <a:gd name="adj2" fmla="val 55783"/>
              </a:avLst>
            </a:prstGeom>
            <a:gradFill flip="none" rotWithShape="1">
              <a:gsLst>
                <a:gs pos="0">
                  <a:srgbClr val="BDDEFF"/>
                </a:gs>
                <a:gs pos="100000">
                  <a:srgbClr val="D9ECFF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91440" tIns="0" rIns="91440" bIns="91440" anchor="ctr" anchorCtr="0"/>
            <a:lstStyle/>
            <a:p>
              <a:pPr algn="ctr"/>
              <a:endParaRPr lang="en-US" sz="7000" b="1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07265" y="21384570"/>
              <a:ext cx="1124256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>
                  <a:solidFill>
                    <a:srgbClr val="183C5C"/>
                  </a:solidFill>
                  <a:latin typeface="Cambria" panose="02040503050406030204" pitchFamily="18" charset="0"/>
                </a:rPr>
                <a:t>Is it possible to improve IVF’s success rate?</a:t>
              </a:r>
            </a:p>
          </p:txBody>
        </p:sp>
      </p:grpSp>
      <p:sp>
        <p:nvSpPr>
          <p:cNvPr id="126" name="Rectangle 1"/>
          <p:cNvSpPr>
            <a:spLocks noChangeArrowheads="1"/>
          </p:cNvSpPr>
          <p:nvPr/>
        </p:nvSpPr>
        <p:spPr bwMode="auto">
          <a:xfrm>
            <a:off x="13110365" y="14777111"/>
            <a:ext cx="40404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FF000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4000" b="1" dirty="0">
                <a:latin typeface="Cambria" panose="02040503050406030204" pitchFamily="18" charset="0"/>
              </a:rPr>
              <a:t> Drawbacks: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652" y="26492515"/>
            <a:ext cx="1171652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3600" b="1" dirty="0">
                <a:latin typeface="Cambria" panose="02040503050406030204" pitchFamily="18" charset="0"/>
              </a:rPr>
              <a:t>Counting/localizing</a:t>
            </a:r>
            <a:r>
              <a:rPr lang="en-US" altLang="en-US" sz="3600" b="1" dirty="0"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human embryonic cells facilitates embryo quality assessment by cleavage time analysis. 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147" name="Rectangle 1"/>
          <p:cNvSpPr>
            <a:spLocks noChangeArrowheads="1"/>
          </p:cNvSpPr>
          <p:nvPr/>
        </p:nvSpPr>
        <p:spPr bwMode="auto">
          <a:xfrm>
            <a:off x="13065514" y="6838466"/>
            <a:ext cx="149820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0070C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4400" b="1" dirty="0">
                <a:latin typeface="Cambria" panose="02040503050406030204" pitchFamily="18" charset="0"/>
              </a:rPr>
              <a:t> A</a:t>
            </a:r>
            <a:endParaRPr lang="en-US" sz="3400" dirty="0">
              <a:latin typeface="Cambria" panose="02040503050406030204" pitchFamily="18" charset="0"/>
            </a:endParaRPr>
          </a:p>
        </p:txBody>
      </p:sp>
      <p:sp>
        <p:nvSpPr>
          <p:cNvPr id="148" name="Flowchart: Connector 147"/>
          <p:cNvSpPr/>
          <p:nvPr/>
        </p:nvSpPr>
        <p:spPr>
          <a:xfrm>
            <a:off x="18601898" y="8150850"/>
            <a:ext cx="2560320" cy="2560320"/>
          </a:xfrm>
          <a:prstGeom prst="flowChartConnector">
            <a:avLst/>
          </a:prstGeom>
          <a:solidFill>
            <a:srgbClr val="FF660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rPr>
              <a:t>53</a:t>
            </a:r>
          </a:p>
          <a:p>
            <a:pPr algn="ctr"/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rPr>
              <a:t>patients</a:t>
            </a:r>
          </a:p>
        </p:txBody>
      </p:sp>
      <p:sp>
        <p:nvSpPr>
          <p:cNvPr id="149" name="Flowchart: Connector 148"/>
          <p:cNvSpPr/>
          <p:nvPr/>
        </p:nvSpPr>
        <p:spPr>
          <a:xfrm>
            <a:off x="16369191" y="8158913"/>
            <a:ext cx="2560320" cy="2560320"/>
          </a:xfrm>
          <a:prstGeom prst="flowChartConnector">
            <a:avLst/>
          </a:prstGeom>
          <a:solidFill>
            <a:srgbClr val="00CC0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rPr>
              <a:t>265 image </a:t>
            </a:r>
            <a:r>
              <a:rPr lang="en-US" sz="3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rPr>
              <a:t>seqs</a:t>
            </a:r>
            <a:endParaRPr lang="en-US" sz="37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51" name="Flowchart: Connector 150"/>
          <p:cNvSpPr/>
          <p:nvPr/>
        </p:nvSpPr>
        <p:spPr>
          <a:xfrm>
            <a:off x="14157107" y="8147721"/>
            <a:ext cx="2560320" cy="2560320"/>
          </a:xfrm>
          <a:prstGeom prst="flowChartConnector">
            <a:avLst/>
          </a:prstGeom>
          <a:solidFill>
            <a:srgbClr val="0099FF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rPr>
              <a:t>148,993 frames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3769913" y="10751943"/>
            <a:ext cx="1366885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4400" b="1" dirty="0">
                <a:solidFill>
                  <a:srgbClr val="420000"/>
                </a:solidFill>
                <a:latin typeface="Cambria" panose="02040503050406030204" pitchFamily="18" charset="0"/>
              </a:rPr>
              <a:t>B</a:t>
            </a:r>
            <a:endParaRPr lang="en-US" sz="4400" b="1" dirty="0">
              <a:solidFill>
                <a:srgbClr val="420000"/>
              </a:solidFill>
              <a:latin typeface="Cambria" panose="02040503050406030204" pitchFamily="18" charset="0"/>
            </a:endParaRPr>
          </a:p>
        </p:txBody>
      </p:sp>
      <p:pic>
        <p:nvPicPr>
          <p:cNvPr id="167" name="Picture 16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398334" y="26469397"/>
            <a:ext cx="635314" cy="649224"/>
          </a:xfrm>
          <a:prstGeom prst="rect">
            <a:avLst/>
          </a:prstGeom>
        </p:spPr>
      </p:pic>
      <p:pic>
        <p:nvPicPr>
          <p:cNvPr id="168" name="Picture 167"/>
          <p:cNvPicPr preferRelativeResize="0">
            <a:picLocks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11" t="43678" r="52285" b="20660"/>
          <a:stretch/>
        </p:blipFill>
        <p:spPr>
          <a:xfrm>
            <a:off x="13123304" y="10786948"/>
            <a:ext cx="640080" cy="658368"/>
          </a:xfrm>
          <a:prstGeom prst="rect">
            <a:avLst/>
          </a:prstGeom>
        </p:spPr>
      </p:pic>
      <p:grpSp>
        <p:nvGrpSpPr>
          <p:cNvPr id="170" name="Group 169"/>
          <p:cNvGrpSpPr/>
          <p:nvPr/>
        </p:nvGrpSpPr>
        <p:grpSpPr>
          <a:xfrm>
            <a:off x="15907685" y="13065630"/>
            <a:ext cx="9321398" cy="1598568"/>
            <a:chOff x="1859316" y="5229199"/>
            <a:chExt cx="5056726" cy="943718"/>
          </a:xfrm>
        </p:grpSpPr>
        <p:sp>
          <p:nvSpPr>
            <p:cNvPr id="172" name="Flowchart: Connector 171"/>
            <p:cNvSpPr/>
            <p:nvPr/>
          </p:nvSpPr>
          <p:spPr>
            <a:xfrm>
              <a:off x="3884611" y="5229200"/>
              <a:ext cx="876953" cy="943714"/>
            </a:xfrm>
            <a:prstGeom prst="flowChartConnector">
              <a:avLst/>
            </a:prstGeom>
            <a:solidFill>
              <a:srgbClr val="151515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4000" dirty="0">
                  <a:latin typeface="Cambria" panose="02040503050406030204" pitchFamily="18" charset="0"/>
                </a:rPr>
                <a:t>vs</a:t>
              </a:r>
            </a:p>
          </p:txBody>
        </p:sp>
        <p:sp>
          <p:nvSpPr>
            <p:cNvPr id="173" name="Flowchart: Stored Data 172"/>
            <p:cNvSpPr/>
            <p:nvPr/>
          </p:nvSpPr>
          <p:spPr>
            <a:xfrm>
              <a:off x="1859316" y="5229203"/>
              <a:ext cx="2191097" cy="943714"/>
            </a:xfrm>
            <a:prstGeom prst="flowChartOnlineStorage">
              <a:avLst/>
            </a:prstGeom>
            <a:solidFill>
              <a:srgbClr val="7E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174" name="Flowchart: Stored Data 173"/>
            <p:cNvSpPr/>
            <p:nvPr/>
          </p:nvSpPr>
          <p:spPr>
            <a:xfrm rot="10800000">
              <a:off x="4572452" y="5229199"/>
              <a:ext cx="2343590" cy="943715"/>
            </a:xfrm>
            <a:prstGeom prst="flowChartOnlineStorage">
              <a:avLst/>
            </a:prstGeom>
            <a:solidFill>
              <a:srgbClr val="1C416E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en-US" sz="1600" dirty="0"/>
            </a:p>
          </p:txBody>
        </p:sp>
      </p:grpSp>
      <p:sp>
        <p:nvSpPr>
          <p:cNvPr id="180" name="Pentagon 179"/>
          <p:cNvSpPr/>
          <p:nvPr/>
        </p:nvSpPr>
        <p:spPr>
          <a:xfrm>
            <a:off x="13706194" y="19339227"/>
            <a:ext cx="10508391" cy="3381633"/>
          </a:xfrm>
          <a:prstGeom prst="homePlate">
            <a:avLst>
              <a:gd name="adj" fmla="val 52674"/>
            </a:avLst>
          </a:prstGeom>
          <a:gradFill flip="none" rotWithShape="1">
            <a:gsLst>
              <a:gs pos="64000">
                <a:srgbClr val="DFEFFF"/>
              </a:gs>
              <a:gs pos="0">
                <a:srgbClr val="BDDEFF"/>
              </a:gs>
              <a:gs pos="100000">
                <a:srgbClr val="DFE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 lang="en-US" sz="1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Rectangle 4"/>
          <p:cNvSpPr>
            <a:spLocks noChangeArrowheads="1"/>
          </p:cNvSpPr>
          <p:nvPr/>
        </p:nvSpPr>
        <p:spPr bwMode="auto">
          <a:xfrm>
            <a:off x="17932865" y="19387353"/>
            <a:ext cx="402762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45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>
              <a:buClr>
                <a:srgbClr val="7B4578"/>
              </a:buClr>
              <a:buNone/>
            </a:pPr>
            <a:r>
              <a:rPr lang="en-US" sz="4000" dirty="0">
                <a:latin typeface="Cambria" panose="02040503050406030204" pitchFamily="18" charset="0"/>
              </a:rPr>
              <a:t>End-to-end regression problem :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8145935" y="5727032"/>
            <a:ext cx="15179040" cy="91440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en-US" sz="6000" b="1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en-US" sz="6000" b="1" dirty="0">
                <a:solidFill>
                  <a:schemeClr val="bg1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</a:t>
            </a:r>
            <a:endParaRPr lang="en-US" sz="60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13735360" y="23059626"/>
            <a:ext cx="126768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4400" b="1" dirty="0">
                <a:latin typeface="Cambria" panose="02040503050406030204" pitchFamily="18" charset="0"/>
              </a:rPr>
              <a:t>Proposed Architecture</a:t>
            </a:r>
            <a:endParaRPr lang="en-US" sz="4400" b="1" dirty="0">
              <a:latin typeface="Cambria" panose="02040503050406030204" pitchFamily="18" charset="0"/>
            </a:endParaRPr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13111076" y="23157348"/>
            <a:ext cx="664505" cy="67905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8055861" y="6863174"/>
            <a:ext cx="63721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00B05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4400" b="1" dirty="0">
                <a:latin typeface="Cambria" panose="02040503050406030204" pitchFamily="18" charset="0"/>
              </a:rPr>
              <a:t> Qualitative Results:</a:t>
            </a:r>
            <a:endParaRPr lang="en-US" sz="4400" dirty="0"/>
          </a:p>
        </p:txBody>
      </p:sp>
      <p:sp>
        <p:nvSpPr>
          <p:cNvPr id="191" name="Rectangle 190"/>
          <p:cNvSpPr/>
          <p:nvPr/>
        </p:nvSpPr>
        <p:spPr>
          <a:xfrm>
            <a:off x="28117176" y="19533973"/>
            <a:ext cx="63721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</a:rPr>
              <a:t>Image-based performance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8008842" y="24482882"/>
            <a:ext cx="58028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Cambria" panose="02040503050406030204" pitchFamily="18" charset="0"/>
              </a:rPr>
              <a:t>Cell-based performance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28145935" y="29271063"/>
            <a:ext cx="15192533" cy="21544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731520">
              <a:lnSpc>
                <a:spcPct val="80000"/>
              </a:lnSpc>
              <a:spcBef>
                <a:spcPts val="1200"/>
              </a:spcBef>
            </a:pPr>
            <a:endParaRPr lang="en-US" sz="5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  <a:p>
            <a:pPr marL="731520">
              <a:lnSpc>
                <a:spcPct val="80000"/>
              </a:lnSpc>
              <a:spcBef>
                <a:spcPts val="600"/>
              </a:spcBef>
            </a:pP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28184743" y="29324898"/>
            <a:ext cx="635314" cy="64922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28152086" y="30527501"/>
            <a:ext cx="635314" cy="649224"/>
          </a:xfrm>
          <a:prstGeom prst="rect">
            <a:avLst/>
          </a:prstGeom>
        </p:spPr>
      </p:pic>
      <p:sp>
        <p:nvSpPr>
          <p:cNvPr id="196" name="Rectangle 195"/>
          <p:cNvSpPr/>
          <p:nvPr/>
        </p:nvSpPr>
        <p:spPr>
          <a:xfrm>
            <a:off x="1573547" y="20857354"/>
            <a:ext cx="111320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900" b="1" dirty="0">
                <a:solidFill>
                  <a:srgbClr val="132F49"/>
                </a:solidFill>
                <a:latin typeface="Cambria" panose="02040503050406030204" pitchFamily="18" charset="0"/>
              </a:rPr>
              <a:t>The timing of the first 3-4 cleavages is a proven indicator of embryos quality. </a:t>
            </a:r>
            <a:endParaRPr lang="en-US" sz="3900" b="1" dirty="0">
              <a:solidFill>
                <a:srgbClr val="132F49"/>
              </a:solidFill>
              <a:latin typeface="Cambria" panose="02040503050406030204" pitchFamily="18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466515" y="20988960"/>
            <a:ext cx="1097280" cy="1097280"/>
            <a:chOff x="26419629" y="14434457"/>
            <a:chExt cx="1097280" cy="1097280"/>
          </a:xfrm>
        </p:grpSpPr>
        <p:sp>
          <p:nvSpPr>
            <p:cNvPr id="27" name="Oval 26"/>
            <p:cNvSpPr/>
            <p:nvPr/>
          </p:nvSpPr>
          <p:spPr>
            <a:xfrm>
              <a:off x="26419629" y="14434457"/>
              <a:ext cx="1097280" cy="109728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27372129" y="14995485"/>
              <a:ext cx="13716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>
              <a:off x="26419629" y="14985960"/>
              <a:ext cx="13716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26972079" y="15386010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>
              <a:off x="26975073" y="14441318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lowchart: Alternate Process 33"/>
            <p:cNvSpPr/>
            <p:nvPr/>
          </p:nvSpPr>
          <p:spPr>
            <a:xfrm rot="19404945">
              <a:off x="26951778" y="14872606"/>
              <a:ext cx="320040" cy="64008"/>
            </a:xfrm>
            <a:prstGeom prst="flowChartAlternateProcess">
              <a:avLst/>
            </a:prstGeom>
            <a:solidFill>
              <a:schemeClr val="tx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Flowchart: Alternate Process 200"/>
            <p:cNvSpPr/>
            <p:nvPr/>
          </p:nvSpPr>
          <p:spPr>
            <a:xfrm rot="13638067">
              <a:off x="26599741" y="14811312"/>
              <a:ext cx="457200" cy="64008"/>
            </a:xfrm>
            <a:prstGeom prst="flowChartAlternateProcess">
              <a:avLst/>
            </a:prstGeom>
            <a:solidFill>
              <a:schemeClr val="tx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26906493" y="14926905"/>
              <a:ext cx="137160" cy="137160"/>
            </a:xfrm>
            <a:prstGeom prst="ellipse">
              <a:avLst/>
            </a:prstGeom>
            <a:solidFill>
              <a:schemeClr val="tx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5" name="Rectangle 1"/>
          <p:cNvSpPr>
            <a:spLocks noChangeArrowheads="1"/>
          </p:cNvSpPr>
          <p:nvPr/>
        </p:nvSpPr>
        <p:spPr bwMode="auto">
          <a:xfrm>
            <a:off x="397801" y="18446239"/>
            <a:ext cx="121412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0070C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4400" b="1" dirty="0">
                <a:latin typeface="Cambria" panose="02040503050406030204" pitchFamily="18" charset="0"/>
              </a:rPr>
              <a:t> </a:t>
            </a:r>
            <a:endParaRPr lang="en-US" sz="3350" dirty="0">
              <a:latin typeface="Cambria" panose="02040503050406030204" pitchFamily="18" charset="0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13876451" y="30359631"/>
            <a:ext cx="143761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4000" b="1" dirty="0">
                <a:solidFill>
                  <a:srgbClr val="132F49"/>
                </a:solidFill>
                <a:latin typeface="Cambria" panose="02040503050406030204" pitchFamily="18" charset="0"/>
              </a:rPr>
              <a:t>Trained using a distance-based weighted loss function.</a:t>
            </a:r>
            <a:endParaRPr lang="en-US" sz="4000" b="1" dirty="0">
              <a:solidFill>
                <a:srgbClr val="132F49"/>
              </a:solidFill>
              <a:latin typeface="Cambria" panose="02040503050406030204" pitchFamily="18" charset="0"/>
            </a:endParaRPr>
          </a:p>
        </p:txBody>
      </p:sp>
      <p:pic>
        <p:nvPicPr>
          <p:cNvPr id="207" name="Picture 20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13252167" y="30359382"/>
            <a:ext cx="664505" cy="679054"/>
          </a:xfrm>
          <a:prstGeom prst="rect">
            <a:avLst/>
          </a:prstGeom>
        </p:spPr>
      </p:pic>
      <p:sp>
        <p:nvSpPr>
          <p:cNvPr id="208" name="Rectangle 207"/>
          <p:cNvSpPr/>
          <p:nvPr/>
        </p:nvSpPr>
        <p:spPr>
          <a:xfrm>
            <a:off x="13904744" y="31033194"/>
            <a:ext cx="138457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4000" b="1" dirty="0">
                <a:solidFill>
                  <a:srgbClr val="132F49"/>
                </a:solidFill>
                <a:latin typeface="Cambria" panose="02040503050406030204" pitchFamily="18" charset="0"/>
              </a:rPr>
              <a:t>Trained using shape-aware Gaussian dot annotation.</a:t>
            </a:r>
            <a:endParaRPr lang="en-US" sz="4000" b="1" dirty="0">
              <a:solidFill>
                <a:srgbClr val="132F49"/>
              </a:solidFill>
              <a:latin typeface="Cambria" panose="02040503050406030204" pitchFamily="18" charset="0"/>
            </a:endParaRPr>
          </a:p>
        </p:txBody>
      </p:sp>
      <p:pic>
        <p:nvPicPr>
          <p:cNvPr id="209" name="Picture 20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245" t="20616" r="16347" b="44223"/>
          <a:stretch/>
        </p:blipFill>
        <p:spPr>
          <a:xfrm>
            <a:off x="13247803" y="31098259"/>
            <a:ext cx="664505" cy="679054"/>
          </a:xfrm>
          <a:prstGeom prst="rect">
            <a:avLst/>
          </a:prstGeom>
        </p:spPr>
      </p:pic>
      <p:cxnSp>
        <p:nvCxnSpPr>
          <p:cNvPr id="38" name="Straight Connector 37"/>
          <p:cNvCxnSpPr/>
          <p:nvPr/>
        </p:nvCxnSpPr>
        <p:spPr>
          <a:xfrm>
            <a:off x="28242274" y="31571552"/>
            <a:ext cx="150876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/>
          <p:cNvSpPr/>
          <p:nvPr/>
        </p:nvSpPr>
        <p:spPr>
          <a:xfrm>
            <a:off x="28016528" y="18698807"/>
            <a:ext cx="72386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00B05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4400" b="1" dirty="0">
                <a:latin typeface="Cambria" panose="02040503050406030204" pitchFamily="18" charset="0"/>
              </a:rPr>
              <a:t>Quantitative Results:</a:t>
            </a:r>
            <a:endParaRPr lang="en-US" sz="4400" dirty="0"/>
          </a:p>
        </p:txBody>
      </p:sp>
      <p:sp>
        <p:nvSpPr>
          <p:cNvPr id="238" name="Right Arrow 237"/>
          <p:cNvSpPr/>
          <p:nvPr/>
        </p:nvSpPr>
        <p:spPr>
          <a:xfrm>
            <a:off x="4385542" y="27697457"/>
            <a:ext cx="3272537" cy="4766876"/>
          </a:xfrm>
          <a:prstGeom prst="rightArrow">
            <a:avLst>
              <a:gd name="adj1" fmla="val 50000"/>
              <a:gd name="adj2" fmla="val 100000"/>
            </a:avLst>
          </a:prstGeom>
          <a:gradFill flip="none" rotWithShape="1">
            <a:gsLst>
              <a:gs pos="0">
                <a:srgbClr val="BDDEFF"/>
              </a:gs>
              <a:gs pos="100000">
                <a:srgbClr val="F5F9FD"/>
              </a:gs>
            </a:gsLst>
            <a:lin ang="10800000" scaled="1"/>
            <a:tileRect/>
          </a:gra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D1E953A-D058-C701-058B-971909AF1F06}"/>
                  </a:ext>
                </a:extLst>
              </p:cNvPr>
              <p:cNvSpPr/>
              <p:nvPr/>
            </p:nvSpPr>
            <p:spPr>
              <a:xfrm>
                <a:off x="13298466" y="3484782"/>
                <a:ext cx="17809522" cy="108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sz="3800" dirty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ame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1, 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2, 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Name</m:t>
                      </m:r>
                      <m:r>
                        <m:rPr>
                          <m:nor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CA" sz="3800" b="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CA" sz="34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Khoury College of Computer Science</a:t>
                </a:r>
                <a:r>
                  <a:rPr lang="en-US" sz="34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, Northeastern University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D1E953A-D058-C701-058B-971909AF1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8466" y="3484782"/>
                <a:ext cx="17809522" cy="1089529"/>
              </a:xfrm>
              <a:prstGeom prst="rect">
                <a:avLst/>
              </a:prstGeom>
              <a:blipFill>
                <a:blip r:embed="rId7"/>
                <a:stretch>
                  <a:fillRect l="-998" t="-1162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6D2328E-3288-E425-745A-BD4EEA2CCB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682" y="2804382"/>
            <a:ext cx="7063664" cy="2002930"/>
          </a:xfrm>
          <a:prstGeom prst="rect">
            <a:avLst/>
          </a:prstGeom>
        </p:spPr>
      </p:pic>
      <p:pic>
        <p:nvPicPr>
          <p:cNvPr id="6" name="Picture 5" descr="Northeastern University Guide [Admission Overview] - Ivy Scholars">
            <a:extLst>
              <a:ext uri="{FF2B5EF4-FFF2-40B4-BE49-F238E27FC236}">
                <a16:creationId xmlns:a16="http://schemas.microsoft.com/office/drawing/2014/main" id="{FD3D8A88-2FA0-A97F-902D-ACA9B7C01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7008" y="2255874"/>
            <a:ext cx="2848315" cy="2848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8F491D-7C24-FC4A-3F58-B4FF37E9914C}"/>
                  </a:ext>
                </a:extLst>
              </p:cNvPr>
              <p:cNvSpPr/>
              <p:nvPr/>
            </p:nvSpPr>
            <p:spPr>
              <a:xfrm>
                <a:off x="33192806" y="3333535"/>
                <a:ext cx="8408912" cy="618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380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upervised</m:t>
                      </m:r>
                      <m: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Prof</m:t>
                      </m:r>
                      <m: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Ryan</m:t>
                      </m:r>
                      <m: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3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n-US" sz="380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8F491D-7C24-FC4A-3F58-B4FF37E99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806" y="3333535"/>
                <a:ext cx="8408912" cy="618631"/>
              </a:xfrm>
              <a:prstGeom prst="rect">
                <a:avLst/>
              </a:prstGeom>
              <a:blipFill>
                <a:blip r:embed="rId10"/>
                <a:stretch>
                  <a:fillRect l="-905" t="-800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01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11311</TotalTime>
  <Words>147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 Moradi Rad</dc:creator>
  <cp:lastModifiedBy>Rad, Ryan</cp:lastModifiedBy>
  <cp:revision>266</cp:revision>
  <dcterms:created xsi:type="dcterms:W3CDTF">2016-05-11T20:53:11Z</dcterms:created>
  <dcterms:modified xsi:type="dcterms:W3CDTF">2025-04-01T18:38:03Z</dcterms:modified>
</cp:coreProperties>
</file>